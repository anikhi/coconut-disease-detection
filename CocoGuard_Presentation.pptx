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ms-powerpoint.presentation.macroEnabled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8" r:id="rId5"/>
    <p:sldId id="269" r:id="rId6"/>
    <p:sldId id="283" r:id="rId7"/>
    <p:sldId id="276" r:id="rId8"/>
    <p:sldId id="270" r:id="rId9"/>
    <p:sldId id="271" r:id="rId10"/>
    <p:sldId id="278" r:id="rId11"/>
    <p:sldId id="284" r:id="rId12"/>
    <p:sldId id="279" r:id="rId13"/>
    <p:sldId id="272" r:id="rId14"/>
    <p:sldId id="281" r:id="rId15"/>
    <p:sldId id="280" r:id="rId16"/>
    <p:sldId id="28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49A4"/>
    <a:srgbClr val="2A1772"/>
    <a:srgbClr val="FFFFFF"/>
    <a:srgbClr val="330F7B"/>
    <a:srgbClr val="2A186E"/>
    <a:srgbClr val="E02317"/>
    <a:srgbClr val="D46862"/>
    <a:srgbClr val="DE5754"/>
    <a:srgbClr val="D321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7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svg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7ABD5-A362-45EF-9987-2C6186739F84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78BE4-E71A-4AE6-8999-30644C9071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80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 userDrawn="1"/>
        </p:nvSpPr>
        <p:spPr>
          <a:xfrm rot="16200000">
            <a:off x="-1351277" y="1351277"/>
            <a:ext cx="6858000" cy="4155440"/>
          </a:xfrm>
          <a:custGeom>
            <a:avLst/>
            <a:gdLst>
              <a:gd name="connsiteX0" fmla="*/ 0 w 5143500"/>
              <a:gd name="connsiteY0" fmla="*/ 4870208 h 5093925"/>
              <a:gd name="connsiteX1" fmla="*/ 0 w 5143500"/>
              <a:gd name="connsiteY1" fmla="*/ 0 h 5093925"/>
              <a:gd name="connsiteX2" fmla="*/ 5143500 w 5143500"/>
              <a:gd name="connsiteY2" fmla="*/ 0 h 5093925"/>
              <a:gd name="connsiteX3" fmla="*/ 5143500 w 5143500"/>
              <a:gd name="connsiteY3" fmla="*/ 4137784 h 5093925"/>
              <a:gd name="connsiteX4" fmla="*/ 79132 w 5143500"/>
              <a:gd name="connsiteY4" fmla="*/ 4895436 h 509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3500" h="5093925">
                <a:moveTo>
                  <a:pt x="0" y="4870208"/>
                </a:moveTo>
                <a:lnTo>
                  <a:pt x="0" y="0"/>
                </a:lnTo>
                <a:lnTo>
                  <a:pt x="5143500" y="0"/>
                </a:lnTo>
                <a:lnTo>
                  <a:pt x="5143500" y="4137784"/>
                </a:lnTo>
                <a:cubicBezTo>
                  <a:pt x="2573672" y="4137784"/>
                  <a:pt x="2493365" y="5617359"/>
                  <a:pt x="79132" y="4895436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2" name="Freeform 1"/>
          <p:cNvSpPr/>
          <p:nvPr userDrawn="1"/>
        </p:nvSpPr>
        <p:spPr>
          <a:xfrm rot="16200000">
            <a:off x="-1493519" y="1493517"/>
            <a:ext cx="6858000" cy="3870961"/>
          </a:xfrm>
          <a:custGeom>
            <a:avLst/>
            <a:gdLst>
              <a:gd name="connsiteX0" fmla="*/ 0 w 5143500"/>
              <a:gd name="connsiteY0" fmla="*/ 4870208 h 5093925"/>
              <a:gd name="connsiteX1" fmla="*/ 0 w 5143500"/>
              <a:gd name="connsiteY1" fmla="*/ 0 h 5093925"/>
              <a:gd name="connsiteX2" fmla="*/ 5143500 w 5143500"/>
              <a:gd name="connsiteY2" fmla="*/ 0 h 5093925"/>
              <a:gd name="connsiteX3" fmla="*/ 5143500 w 5143500"/>
              <a:gd name="connsiteY3" fmla="*/ 4137784 h 5093925"/>
              <a:gd name="connsiteX4" fmla="*/ 79132 w 5143500"/>
              <a:gd name="connsiteY4" fmla="*/ 4895436 h 509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3500" h="5093925">
                <a:moveTo>
                  <a:pt x="0" y="4870208"/>
                </a:moveTo>
                <a:lnTo>
                  <a:pt x="0" y="0"/>
                </a:lnTo>
                <a:lnTo>
                  <a:pt x="5143500" y="0"/>
                </a:lnTo>
                <a:lnTo>
                  <a:pt x="5143500" y="4137784"/>
                </a:lnTo>
                <a:cubicBezTo>
                  <a:pt x="2573672" y="4137784"/>
                  <a:pt x="2493365" y="5617359"/>
                  <a:pt x="79132" y="4895436"/>
                </a:cubicBezTo>
                <a:close/>
              </a:path>
            </a:pathLst>
          </a:custGeom>
          <a:solidFill>
            <a:srgbClr val="2A17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A26E215-7AF7-4C01-AC6C-179F67C2B9BA}"/>
              </a:ext>
            </a:extLst>
          </p:cNvPr>
          <p:cNvSpPr txBox="1">
            <a:spLocks/>
          </p:cNvSpPr>
          <p:nvPr userDrawn="1"/>
        </p:nvSpPr>
        <p:spPr>
          <a:xfrm>
            <a:off x="219044" y="2880361"/>
            <a:ext cx="3265836" cy="787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b="1" dirty="0">
              <a:solidFill>
                <a:srgbClr val="FFFFFF"/>
              </a:solidFill>
              <a:latin typeface="Sitka Small" panose="02000505000000020004" pitchFamily="2" charset="0"/>
            </a:endParaRPr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1"/>
          </p:nvPr>
        </p:nvSpPr>
        <p:spPr>
          <a:xfrm>
            <a:off x="219044" y="2996249"/>
            <a:ext cx="5659437" cy="671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4749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755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/>
          <p:cNvSpPr/>
          <p:nvPr userDrawn="1"/>
        </p:nvSpPr>
        <p:spPr>
          <a:xfrm rot="16200000">
            <a:off x="-1396999" y="1396998"/>
            <a:ext cx="6858002" cy="4064002"/>
          </a:xfrm>
          <a:custGeom>
            <a:avLst/>
            <a:gdLst>
              <a:gd name="connsiteX0" fmla="*/ 5143500 w 5143500"/>
              <a:gd name="connsiteY0" fmla="*/ 0 h 4738352"/>
              <a:gd name="connsiteX1" fmla="*/ 5143500 w 5143500"/>
              <a:gd name="connsiteY1" fmla="*/ 3782211 h 4738352"/>
              <a:gd name="connsiteX2" fmla="*/ 79132 w 5143500"/>
              <a:gd name="connsiteY2" fmla="*/ 4539863 h 4738352"/>
              <a:gd name="connsiteX3" fmla="*/ 0 w 5143500"/>
              <a:gd name="connsiteY3" fmla="*/ 4514635 h 4738352"/>
              <a:gd name="connsiteX4" fmla="*/ 0 w 5143500"/>
              <a:gd name="connsiteY4" fmla="*/ 0 h 4738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3500" h="4738352">
                <a:moveTo>
                  <a:pt x="5143500" y="0"/>
                </a:moveTo>
                <a:lnTo>
                  <a:pt x="5143500" y="3782211"/>
                </a:lnTo>
                <a:cubicBezTo>
                  <a:pt x="2573672" y="3782211"/>
                  <a:pt x="2493365" y="5261786"/>
                  <a:pt x="79132" y="4539863"/>
                </a:cubicBezTo>
                <a:lnTo>
                  <a:pt x="0" y="4514635"/>
                </a:lnTo>
                <a:lnTo>
                  <a:pt x="0" y="0"/>
                </a:lnTo>
                <a:close/>
              </a:path>
            </a:pathLst>
          </a:custGeom>
          <a:solidFill>
            <a:srgbClr val="2A17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2400" dirty="0">
              <a:solidFill>
                <a:schemeClr val="accent1"/>
              </a:solidFill>
            </a:endParaRPr>
          </a:p>
        </p:txBody>
      </p:sp>
      <p:sp>
        <p:nvSpPr>
          <p:cNvPr id="10" name="Freeform 9"/>
          <p:cNvSpPr/>
          <p:nvPr userDrawn="1"/>
        </p:nvSpPr>
        <p:spPr>
          <a:xfrm rot="16200000">
            <a:off x="-1411071" y="1535328"/>
            <a:ext cx="6733745" cy="3911602"/>
          </a:xfrm>
          <a:custGeom>
            <a:avLst/>
            <a:gdLst>
              <a:gd name="connsiteX0" fmla="*/ 5143500 w 5143500"/>
              <a:gd name="connsiteY0" fmla="*/ 0 h 4738352"/>
              <a:gd name="connsiteX1" fmla="*/ 5143500 w 5143500"/>
              <a:gd name="connsiteY1" fmla="*/ 3782211 h 4738352"/>
              <a:gd name="connsiteX2" fmla="*/ 79132 w 5143500"/>
              <a:gd name="connsiteY2" fmla="*/ 4539863 h 4738352"/>
              <a:gd name="connsiteX3" fmla="*/ 0 w 5143500"/>
              <a:gd name="connsiteY3" fmla="*/ 4514635 h 4738352"/>
              <a:gd name="connsiteX4" fmla="*/ 0 w 5143500"/>
              <a:gd name="connsiteY4" fmla="*/ 0 h 4738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3500" h="4738352">
                <a:moveTo>
                  <a:pt x="5143500" y="0"/>
                </a:moveTo>
                <a:lnTo>
                  <a:pt x="5143500" y="3782211"/>
                </a:lnTo>
                <a:cubicBezTo>
                  <a:pt x="2573672" y="3782211"/>
                  <a:pt x="2493365" y="5261786"/>
                  <a:pt x="79132" y="4539863"/>
                </a:cubicBezTo>
                <a:lnTo>
                  <a:pt x="0" y="451463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495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837766"/>
            <a:ext cx="121919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i="0" dirty="0">
                <a:solidFill>
                  <a:srgbClr val="A449A4"/>
                </a:solidFill>
                <a:effectLst/>
                <a:latin typeface="Open Sans" panose="020B0606030504020204" pitchFamily="34" charset="0"/>
              </a:rPr>
              <a:t>2</a:t>
            </a:r>
            <a:r>
              <a:rPr lang="en-IN" sz="2400" b="1" i="0" baseline="30000" dirty="0">
                <a:solidFill>
                  <a:srgbClr val="A449A4"/>
                </a:solidFill>
                <a:effectLst/>
                <a:latin typeface="Open Sans" panose="020B0606030504020204" pitchFamily="34" charset="0"/>
              </a:rPr>
              <a:t>nd</a:t>
            </a:r>
            <a:r>
              <a:rPr lang="en-IN" sz="2400" b="1" i="0" dirty="0">
                <a:solidFill>
                  <a:srgbClr val="A449A4"/>
                </a:solidFill>
                <a:effectLst/>
                <a:latin typeface="Open Sans" panose="020B0606030504020204" pitchFamily="34" charset="0"/>
              </a:rPr>
              <a:t xml:space="preserve"> International Conference on </a:t>
            </a:r>
          </a:p>
          <a:p>
            <a:pPr algn="ctr"/>
            <a:r>
              <a:rPr lang="en-IN" sz="3600" b="1" i="0" dirty="0">
                <a:solidFill>
                  <a:srgbClr val="A449A4"/>
                </a:solidFill>
                <a:effectLst/>
                <a:latin typeface="Open Sans" panose="020B0606030504020204" pitchFamily="34" charset="0"/>
              </a:rPr>
              <a:t>Intelligent Systems and Computational Networks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4940790" y="3313007"/>
            <a:ext cx="23104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Bahnschrift" panose="020B0502040204020203" pitchFamily="34" charset="0"/>
              </a:rPr>
              <a:t>In association with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2927243" y="4757496"/>
            <a:ext cx="6151880" cy="612962"/>
          </a:xfrm>
        </p:spPr>
        <p:txBody>
          <a:bodyPr>
            <a:noAutofit/>
          </a:bodyPr>
          <a:lstStyle>
            <a:lvl1pPr algn="ctr">
              <a:defRPr sz="2800" b="1">
                <a:latin typeface="Bahnschrift" panose="020B0502040204020203" pitchFamily="34" charset="0"/>
              </a:defRPr>
            </a:lvl1pPr>
          </a:lstStyle>
          <a:p>
            <a:r>
              <a:rPr lang="en-US" dirty="0"/>
              <a:t>Paper Title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394859-8D7E-7D83-449E-B820201BB4A6}"/>
              </a:ext>
            </a:extLst>
          </p:cNvPr>
          <p:cNvSpPr txBox="1"/>
          <p:nvPr userDrawn="1"/>
        </p:nvSpPr>
        <p:spPr>
          <a:xfrm>
            <a:off x="4940790" y="2896933"/>
            <a:ext cx="23104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i="0" kern="120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+mn-ea"/>
                <a:cs typeface="+mn-cs"/>
              </a:rPr>
              <a:t>ICISCN- 2026</a:t>
            </a:r>
            <a:endParaRPr lang="en-IN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98C05B-AC9D-CE97-9EB1-919FAA1820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8514" y="3663264"/>
            <a:ext cx="2934971" cy="631994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F68911FA-9ADF-C3E9-7DAC-6CF0E688F3AC}"/>
              </a:ext>
            </a:extLst>
          </p:cNvPr>
          <p:cNvGrpSpPr/>
          <p:nvPr userDrawn="1"/>
        </p:nvGrpSpPr>
        <p:grpSpPr>
          <a:xfrm>
            <a:off x="3806515" y="0"/>
            <a:ext cx="4393335" cy="743224"/>
            <a:chOff x="2620619" y="3601"/>
            <a:chExt cx="4393335" cy="74322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50BC41-6324-BF4E-4AA4-ACCB97197A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8672" y="28824"/>
              <a:ext cx="588242" cy="58824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65FA697-698A-47F3-C71F-B999788902A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0619" y="12363"/>
              <a:ext cx="569447" cy="56944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5FCF30A-29DE-0923-68E5-3057FC5F13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6981" y="3601"/>
              <a:ext cx="743224" cy="74322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7FEC876-A3C3-5012-D2CD-7284E7D3F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9067" y="12363"/>
              <a:ext cx="569447" cy="569447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10DD7FF-8F17-D192-7936-F735541874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44507" y="28824"/>
              <a:ext cx="569447" cy="569447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9F7EA0E-4710-47A3-4922-B98A99F587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843" y="12363"/>
              <a:ext cx="569447" cy="569447"/>
            </a:xfrm>
            <a:prstGeom prst="rect">
              <a:avLst/>
            </a:prstGeom>
          </p:spPr>
        </p:pic>
      </p:grpSp>
      <p:pic>
        <p:nvPicPr>
          <p:cNvPr id="25" name="Graphic 24">
            <a:extLst>
              <a:ext uri="{FF2B5EF4-FFF2-40B4-BE49-F238E27FC236}">
                <a16:creationId xmlns:a16="http://schemas.microsoft.com/office/drawing/2014/main" id="{FA56D9C5-C271-0D43-6947-DFF5D6FE37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29988" y="778376"/>
            <a:ext cx="6732023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597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2964805-AE57-4082-906B-EBD491B67843}"/>
              </a:ext>
            </a:extLst>
          </p:cNvPr>
          <p:cNvSpPr/>
          <p:nvPr userDrawn="1"/>
        </p:nvSpPr>
        <p:spPr>
          <a:xfrm>
            <a:off x="9199418" y="6466172"/>
            <a:ext cx="2992582" cy="166254"/>
          </a:xfrm>
          <a:prstGeom prst="rect">
            <a:avLst/>
          </a:prstGeom>
          <a:solidFill>
            <a:srgbClr val="2A186E"/>
          </a:solidFill>
          <a:ln>
            <a:solidFill>
              <a:srgbClr val="2A18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0070C0"/>
              </a:solidFill>
            </a:endParaRPr>
          </a:p>
        </p:txBody>
      </p:sp>
      <p:sp>
        <p:nvSpPr>
          <p:cNvPr id="16" name="Persegi Panjang 3">
            <a:extLst>
              <a:ext uri="{FF2B5EF4-FFF2-40B4-BE49-F238E27FC236}">
                <a16:creationId xmlns:a16="http://schemas.microsoft.com/office/drawing/2014/main" id="{BD07E5C3-FBC9-4069-8D4F-E3B10AC91BCE}"/>
              </a:ext>
            </a:extLst>
          </p:cNvPr>
          <p:cNvSpPr/>
          <p:nvPr userDrawn="1"/>
        </p:nvSpPr>
        <p:spPr>
          <a:xfrm>
            <a:off x="0" y="570565"/>
            <a:ext cx="914400" cy="67109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0" hasCustomPrompt="1"/>
          </p:nvPr>
        </p:nvSpPr>
        <p:spPr>
          <a:xfrm>
            <a:off x="335280" y="1872558"/>
            <a:ext cx="11338560" cy="4593614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/>
          </p:nvPr>
        </p:nvSpPr>
        <p:spPr>
          <a:xfrm>
            <a:off x="1077913" y="569913"/>
            <a:ext cx="5659437" cy="671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Oval 24"/>
          <p:cNvSpPr/>
          <p:nvPr userDrawn="1"/>
        </p:nvSpPr>
        <p:spPr>
          <a:xfrm>
            <a:off x="8808720" y="6466172"/>
            <a:ext cx="203200" cy="208263"/>
          </a:xfrm>
          <a:prstGeom prst="ellipse">
            <a:avLst/>
          </a:prstGeom>
          <a:solidFill>
            <a:srgbClr val="E023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22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19"/>
          <p:cNvSpPr/>
          <p:nvPr userDrawn="1"/>
        </p:nvSpPr>
        <p:spPr>
          <a:xfrm rot="10226024">
            <a:off x="10185046" y="6483239"/>
            <a:ext cx="2045805" cy="522168"/>
          </a:xfrm>
          <a:custGeom>
            <a:avLst/>
            <a:gdLst>
              <a:gd name="connsiteX0" fmla="*/ 0 w 1569025"/>
              <a:gd name="connsiteY0" fmla="*/ 334496 h 374853"/>
              <a:gd name="connsiteX1" fmla="*/ 0 w 1569025"/>
              <a:gd name="connsiteY1" fmla="*/ 300004 h 374853"/>
              <a:gd name="connsiteX2" fmla="*/ 45140 w 1569025"/>
              <a:gd name="connsiteY2" fmla="*/ 0 h 374853"/>
              <a:gd name="connsiteX3" fmla="*/ 1569025 w 1569025"/>
              <a:gd name="connsiteY3" fmla="*/ 229287 h 374853"/>
              <a:gd name="connsiteX4" fmla="*/ 1569025 w 1569025"/>
              <a:gd name="connsiteY4" fmla="*/ 234713 h 374853"/>
              <a:gd name="connsiteX5" fmla="*/ 0 w 1569025"/>
              <a:gd name="connsiteY5" fmla="*/ 334496 h 374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9025" h="374853">
                <a:moveTo>
                  <a:pt x="0" y="334496"/>
                </a:moveTo>
                <a:lnTo>
                  <a:pt x="0" y="300004"/>
                </a:lnTo>
                <a:lnTo>
                  <a:pt x="45140" y="0"/>
                </a:lnTo>
                <a:lnTo>
                  <a:pt x="1569025" y="229287"/>
                </a:lnTo>
                <a:lnTo>
                  <a:pt x="1569025" y="234713"/>
                </a:lnTo>
                <a:cubicBezTo>
                  <a:pt x="784512" y="234713"/>
                  <a:pt x="784513" y="465790"/>
                  <a:pt x="0" y="334496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21" name="Freeform 20"/>
          <p:cNvSpPr/>
          <p:nvPr userDrawn="1"/>
        </p:nvSpPr>
        <p:spPr>
          <a:xfrm rot="10286599">
            <a:off x="10189647" y="6548808"/>
            <a:ext cx="2045805" cy="434314"/>
          </a:xfrm>
          <a:custGeom>
            <a:avLst/>
            <a:gdLst>
              <a:gd name="connsiteX0" fmla="*/ 0 w 1569025"/>
              <a:gd name="connsiteY0" fmla="*/ 334496 h 374853"/>
              <a:gd name="connsiteX1" fmla="*/ 0 w 1569025"/>
              <a:gd name="connsiteY1" fmla="*/ 300004 h 374853"/>
              <a:gd name="connsiteX2" fmla="*/ 45140 w 1569025"/>
              <a:gd name="connsiteY2" fmla="*/ 0 h 374853"/>
              <a:gd name="connsiteX3" fmla="*/ 1569025 w 1569025"/>
              <a:gd name="connsiteY3" fmla="*/ 229287 h 374853"/>
              <a:gd name="connsiteX4" fmla="*/ 1569025 w 1569025"/>
              <a:gd name="connsiteY4" fmla="*/ 234713 h 374853"/>
              <a:gd name="connsiteX5" fmla="*/ 0 w 1569025"/>
              <a:gd name="connsiteY5" fmla="*/ 334496 h 374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9025" h="374853">
                <a:moveTo>
                  <a:pt x="0" y="334496"/>
                </a:moveTo>
                <a:lnTo>
                  <a:pt x="0" y="300004"/>
                </a:lnTo>
                <a:lnTo>
                  <a:pt x="45140" y="0"/>
                </a:lnTo>
                <a:lnTo>
                  <a:pt x="1569025" y="229287"/>
                </a:lnTo>
                <a:lnTo>
                  <a:pt x="1569025" y="234713"/>
                </a:lnTo>
                <a:cubicBezTo>
                  <a:pt x="784512" y="234713"/>
                  <a:pt x="784513" y="465790"/>
                  <a:pt x="0" y="334496"/>
                </a:cubicBezTo>
                <a:close/>
              </a:path>
            </a:pathLst>
          </a:custGeom>
          <a:solidFill>
            <a:srgbClr val="2A17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23" name="Content Placeholder 19"/>
          <p:cNvSpPr>
            <a:spLocks noGrp="1"/>
          </p:cNvSpPr>
          <p:nvPr>
            <p:ph sz="quarter" idx="10" hasCustomPrompt="1"/>
          </p:nvPr>
        </p:nvSpPr>
        <p:spPr>
          <a:xfrm>
            <a:off x="447040" y="1394054"/>
            <a:ext cx="11277600" cy="491382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reeform 11"/>
          <p:cNvSpPr>
            <a:spLocks noEditPoints="1"/>
          </p:cNvSpPr>
          <p:nvPr userDrawn="1"/>
        </p:nvSpPr>
        <p:spPr bwMode="auto">
          <a:xfrm>
            <a:off x="18114914" y="2573433"/>
            <a:ext cx="646417" cy="801166"/>
          </a:xfrm>
          <a:custGeom>
            <a:avLst/>
            <a:gdLst>
              <a:gd name="T0" fmla="*/ 55 w 55"/>
              <a:gd name="T1" fmla="*/ 67 h 68"/>
              <a:gd name="T2" fmla="*/ 51 w 55"/>
              <a:gd name="T3" fmla="*/ 47 h 68"/>
              <a:gd name="T4" fmla="*/ 51 w 55"/>
              <a:gd name="T5" fmla="*/ 47 h 68"/>
              <a:gd name="T6" fmla="*/ 51 w 55"/>
              <a:gd name="T7" fmla="*/ 47 h 68"/>
              <a:gd name="T8" fmla="*/ 51 w 55"/>
              <a:gd name="T9" fmla="*/ 47 h 68"/>
              <a:gd name="T10" fmla="*/ 51 w 55"/>
              <a:gd name="T11" fmla="*/ 47 h 68"/>
              <a:gd name="T12" fmla="*/ 19 w 55"/>
              <a:gd name="T13" fmla="*/ 6 h 68"/>
              <a:gd name="T14" fmla="*/ 19 w 55"/>
              <a:gd name="T15" fmla="*/ 6 h 68"/>
              <a:gd name="T16" fmla="*/ 8 w 55"/>
              <a:gd name="T17" fmla="*/ 3 h 68"/>
              <a:gd name="T18" fmla="*/ 4 w 55"/>
              <a:gd name="T19" fmla="*/ 6 h 68"/>
              <a:gd name="T20" fmla="*/ 3 w 55"/>
              <a:gd name="T21" fmla="*/ 18 h 68"/>
              <a:gd name="T22" fmla="*/ 35 w 55"/>
              <a:gd name="T23" fmla="*/ 59 h 68"/>
              <a:gd name="T24" fmla="*/ 35 w 55"/>
              <a:gd name="T25" fmla="*/ 59 h 68"/>
              <a:gd name="T26" fmla="*/ 35 w 55"/>
              <a:gd name="T27" fmla="*/ 59 h 68"/>
              <a:gd name="T28" fmla="*/ 35 w 55"/>
              <a:gd name="T29" fmla="*/ 59 h 68"/>
              <a:gd name="T30" fmla="*/ 35 w 55"/>
              <a:gd name="T31" fmla="*/ 59 h 68"/>
              <a:gd name="T32" fmla="*/ 53 w 55"/>
              <a:gd name="T33" fmla="*/ 68 h 68"/>
              <a:gd name="T34" fmla="*/ 54 w 55"/>
              <a:gd name="T35" fmla="*/ 68 h 68"/>
              <a:gd name="T36" fmla="*/ 55 w 55"/>
              <a:gd name="T37" fmla="*/ 68 h 68"/>
              <a:gd name="T38" fmla="*/ 55 w 55"/>
              <a:gd name="T39" fmla="*/ 67 h 68"/>
              <a:gd name="T40" fmla="*/ 5 w 55"/>
              <a:gd name="T41" fmla="*/ 8 h 68"/>
              <a:gd name="T42" fmla="*/ 9 w 55"/>
              <a:gd name="T43" fmla="*/ 5 h 68"/>
              <a:gd name="T44" fmla="*/ 17 w 55"/>
              <a:gd name="T45" fmla="*/ 6 h 68"/>
              <a:gd name="T46" fmla="*/ 5 w 55"/>
              <a:gd name="T47" fmla="*/ 16 h 68"/>
              <a:gd name="T48" fmla="*/ 5 w 55"/>
              <a:gd name="T49" fmla="*/ 8 h 68"/>
              <a:gd name="T50" fmla="*/ 6 w 55"/>
              <a:gd name="T51" fmla="*/ 18 h 68"/>
              <a:gd name="T52" fmla="*/ 18 w 55"/>
              <a:gd name="T53" fmla="*/ 8 h 68"/>
              <a:gd name="T54" fmla="*/ 39 w 55"/>
              <a:gd name="T55" fmla="*/ 35 h 68"/>
              <a:gd name="T56" fmla="*/ 27 w 55"/>
              <a:gd name="T57" fmla="*/ 45 h 68"/>
              <a:gd name="T58" fmla="*/ 6 w 55"/>
              <a:gd name="T59" fmla="*/ 18 h 68"/>
              <a:gd name="T60" fmla="*/ 28 w 55"/>
              <a:gd name="T61" fmla="*/ 47 h 68"/>
              <a:gd name="T62" fmla="*/ 41 w 55"/>
              <a:gd name="T63" fmla="*/ 37 h 68"/>
              <a:gd name="T64" fmla="*/ 48 w 55"/>
              <a:gd name="T65" fmla="*/ 47 h 68"/>
              <a:gd name="T66" fmla="*/ 36 w 55"/>
              <a:gd name="T67" fmla="*/ 57 h 68"/>
              <a:gd name="T68" fmla="*/ 28 w 55"/>
              <a:gd name="T69" fmla="*/ 47 h 68"/>
              <a:gd name="T70" fmla="*/ 38 w 55"/>
              <a:gd name="T71" fmla="*/ 58 h 68"/>
              <a:gd name="T72" fmla="*/ 49 w 55"/>
              <a:gd name="T73" fmla="*/ 49 h 68"/>
              <a:gd name="T74" fmla="*/ 52 w 55"/>
              <a:gd name="T75" fmla="*/ 65 h 68"/>
              <a:gd name="T76" fmla="*/ 38 w 55"/>
              <a:gd name="T77" fmla="*/ 5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5" h="68">
                <a:moveTo>
                  <a:pt x="55" y="67"/>
                </a:moveTo>
                <a:cubicBezTo>
                  <a:pt x="51" y="47"/>
                  <a:pt x="51" y="47"/>
                  <a:pt x="51" y="47"/>
                </a:cubicBezTo>
                <a:cubicBezTo>
                  <a:pt x="51" y="47"/>
                  <a:pt x="51" y="47"/>
                  <a:pt x="51" y="47"/>
                </a:cubicBezTo>
                <a:cubicBezTo>
                  <a:pt x="51" y="47"/>
                  <a:pt x="51" y="47"/>
                  <a:pt x="51" y="47"/>
                </a:cubicBezTo>
                <a:cubicBezTo>
                  <a:pt x="51" y="47"/>
                  <a:pt x="51" y="47"/>
                  <a:pt x="51" y="47"/>
                </a:cubicBezTo>
                <a:cubicBezTo>
                  <a:pt x="51" y="47"/>
                  <a:pt x="51" y="47"/>
                  <a:pt x="51" y="47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19" y="6"/>
                  <a:pt x="19" y="6"/>
                </a:cubicBezTo>
                <a:cubicBezTo>
                  <a:pt x="16" y="2"/>
                  <a:pt x="11" y="0"/>
                  <a:pt x="8" y="3"/>
                </a:cubicBezTo>
                <a:cubicBezTo>
                  <a:pt x="4" y="6"/>
                  <a:pt x="4" y="6"/>
                  <a:pt x="4" y="6"/>
                </a:cubicBezTo>
                <a:cubicBezTo>
                  <a:pt x="0" y="9"/>
                  <a:pt x="0" y="14"/>
                  <a:pt x="3" y="18"/>
                </a:cubicBezTo>
                <a:cubicBezTo>
                  <a:pt x="35" y="59"/>
                  <a:pt x="35" y="59"/>
                  <a:pt x="35" y="59"/>
                </a:cubicBezTo>
                <a:cubicBezTo>
                  <a:pt x="35" y="59"/>
                  <a:pt x="35" y="59"/>
                  <a:pt x="35" y="59"/>
                </a:cubicBezTo>
                <a:cubicBezTo>
                  <a:pt x="35" y="59"/>
                  <a:pt x="35" y="59"/>
                  <a:pt x="35" y="59"/>
                </a:cubicBezTo>
                <a:cubicBezTo>
                  <a:pt x="35" y="59"/>
                  <a:pt x="35" y="59"/>
                  <a:pt x="35" y="59"/>
                </a:cubicBezTo>
                <a:cubicBezTo>
                  <a:pt x="35" y="59"/>
                  <a:pt x="35" y="59"/>
                  <a:pt x="35" y="59"/>
                </a:cubicBezTo>
                <a:cubicBezTo>
                  <a:pt x="53" y="68"/>
                  <a:pt x="53" y="68"/>
                  <a:pt x="53" y="68"/>
                </a:cubicBezTo>
                <a:cubicBezTo>
                  <a:pt x="53" y="68"/>
                  <a:pt x="54" y="68"/>
                  <a:pt x="54" y="68"/>
                </a:cubicBezTo>
                <a:cubicBezTo>
                  <a:pt x="54" y="68"/>
                  <a:pt x="54" y="68"/>
                  <a:pt x="55" y="68"/>
                </a:cubicBezTo>
                <a:cubicBezTo>
                  <a:pt x="55" y="68"/>
                  <a:pt x="55" y="67"/>
                  <a:pt x="55" y="67"/>
                </a:cubicBezTo>
                <a:close/>
                <a:moveTo>
                  <a:pt x="5" y="8"/>
                </a:moveTo>
                <a:cubicBezTo>
                  <a:pt x="9" y="5"/>
                  <a:pt x="9" y="5"/>
                  <a:pt x="9" y="5"/>
                </a:cubicBezTo>
                <a:cubicBezTo>
                  <a:pt x="11" y="3"/>
                  <a:pt x="14" y="4"/>
                  <a:pt x="17" y="6"/>
                </a:cubicBezTo>
                <a:cubicBezTo>
                  <a:pt x="5" y="16"/>
                  <a:pt x="5" y="16"/>
                  <a:pt x="5" y="16"/>
                </a:cubicBezTo>
                <a:cubicBezTo>
                  <a:pt x="3" y="13"/>
                  <a:pt x="3" y="9"/>
                  <a:pt x="5" y="8"/>
                </a:cubicBezTo>
                <a:close/>
                <a:moveTo>
                  <a:pt x="6" y="18"/>
                </a:moveTo>
                <a:cubicBezTo>
                  <a:pt x="18" y="8"/>
                  <a:pt x="18" y="8"/>
                  <a:pt x="18" y="8"/>
                </a:cubicBezTo>
                <a:cubicBezTo>
                  <a:pt x="39" y="35"/>
                  <a:pt x="39" y="35"/>
                  <a:pt x="39" y="35"/>
                </a:cubicBezTo>
                <a:cubicBezTo>
                  <a:pt x="27" y="45"/>
                  <a:pt x="27" y="45"/>
                  <a:pt x="27" y="45"/>
                </a:cubicBezTo>
                <a:lnTo>
                  <a:pt x="6" y="18"/>
                </a:lnTo>
                <a:close/>
                <a:moveTo>
                  <a:pt x="28" y="47"/>
                </a:moveTo>
                <a:cubicBezTo>
                  <a:pt x="41" y="37"/>
                  <a:pt x="41" y="37"/>
                  <a:pt x="41" y="37"/>
                </a:cubicBezTo>
                <a:cubicBezTo>
                  <a:pt x="48" y="47"/>
                  <a:pt x="48" y="47"/>
                  <a:pt x="48" y="47"/>
                </a:cubicBezTo>
                <a:cubicBezTo>
                  <a:pt x="36" y="57"/>
                  <a:pt x="36" y="57"/>
                  <a:pt x="36" y="57"/>
                </a:cubicBezTo>
                <a:lnTo>
                  <a:pt x="28" y="47"/>
                </a:lnTo>
                <a:close/>
                <a:moveTo>
                  <a:pt x="38" y="58"/>
                </a:moveTo>
                <a:cubicBezTo>
                  <a:pt x="49" y="49"/>
                  <a:pt x="49" y="49"/>
                  <a:pt x="49" y="49"/>
                </a:cubicBezTo>
                <a:cubicBezTo>
                  <a:pt x="52" y="65"/>
                  <a:pt x="52" y="65"/>
                  <a:pt x="52" y="65"/>
                </a:cubicBezTo>
                <a:lnTo>
                  <a:pt x="38" y="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25" name="Freeform 11"/>
          <p:cNvSpPr>
            <a:spLocks noEditPoints="1"/>
          </p:cNvSpPr>
          <p:nvPr userDrawn="1"/>
        </p:nvSpPr>
        <p:spPr bwMode="auto">
          <a:xfrm>
            <a:off x="18267314" y="2725833"/>
            <a:ext cx="646417" cy="801166"/>
          </a:xfrm>
          <a:custGeom>
            <a:avLst/>
            <a:gdLst>
              <a:gd name="T0" fmla="*/ 55 w 55"/>
              <a:gd name="T1" fmla="*/ 67 h 68"/>
              <a:gd name="T2" fmla="*/ 51 w 55"/>
              <a:gd name="T3" fmla="*/ 47 h 68"/>
              <a:gd name="T4" fmla="*/ 51 w 55"/>
              <a:gd name="T5" fmla="*/ 47 h 68"/>
              <a:gd name="T6" fmla="*/ 51 w 55"/>
              <a:gd name="T7" fmla="*/ 47 h 68"/>
              <a:gd name="T8" fmla="*/ 51 w 55"/>
              <a:gd name="T9" fmla="*/ 47 h 68"/>
              <a:gd name="T10" fmla="*/ 51 w 55"/>
              <a:gd name="T11" fmla="*/ 47 h 68"/>
              <a:gd name="T12" fmla="*/ 19 w 55"/>
              <a:gd name="T13" fmla="*/ 6 h 68"/>
              <a:gd name="T14" fmla="*/ 19 w 55"/>
              <a:gd name="T15" fmla="*/ 6 h 68"/>
              <a:gd name="T16" fmla="*/ 8 w 55"/>
              <a:gd name="T17" fmla="*/ 3 h 68"/>
              <a:gd name="T18" fmla="*/ 4 w 55"/>
              <a:gd name="T19" fmla="*/ 6 h 68"/>
              <a:gd name="T20" fmla="*/ 3 w 55"/>
              <a:gd name="T21" fmla="*/ 18 h 68"/>
              <a:gd name="T22" fmla="*/ 35 w 55"/>
              <a:gd name="T23" fmla="*/ 59 h 68"/>
              <a:gd name="T24" fmla="*/ 35 w 55"/>
              <a:gd name="T25" fmla="*/ 59 h 68"/>
              <a:gd name="T26" fmla="*/ 35 w 55"/>
              <a:gd name="T27" fmla="*/ 59 h 68"/>
              <a:gd name="T28" fmla="*/ 35 w 55"/>
              <a:gd name="T29" fmla="*/ 59 h 68"/>
              <a:gd name="T30" fmla="*/ 35 w 55"/>
              <a:gd name="T31" fmla="*/ 59 h 68"/>
              <a:gd name="T32" fmla="*/ 53 w 55"/>
              <a:gd name="T33" fmla="*/ 68 h 68"/>
              <a:gd name="T34" fmla="*/ 54 w 55"/>
              <a:gd name="T35" fmla="*/ 68 h 68"/>
              <a:gd name="T36" fmla="*/ 55 w 55"/>
              <a:gd name="T37" fmla="*/ 68 h 68"/>
              <a:gd name="T38" fmla="*/ 55 w 55"/>
              <a:gd name="T39" fmla="*/ 67 h 68"/>
              <a:gd name="T40" fmla="*/ 5 w 55"/>
              <a:gd name="T41" fmla="*/ 8 h 68"/>
              <a:gd name="T42" fmla="*/ 9 w 55"/>
              <a:gd name="T43" fmla="*/ 5 h 68"/>
              <a:gd name="T44" fmla="*/ 17 w 55"/>
              <a:gd name="T45" fmla="*/ 6 h 68"/>
              <a:gd name="T46" fmla="*/ 5 w 55"/>
              <a:gd name="T47" fmla="*/ 16 h 68"/>
              <a:gd name="T48" fmla="*/ 5 w 55"/>
              <a:gd name="T49" fmla="*/ 8 h 68"/>
              <a:gd name="T50" fmla="*/ 6 w 55"/>
              <a:gd name="T51" fmla="*/ 18 h 68"/>
              <a:gd name="T52" fmla="*/ 18 w 55"/>
              <a:gd name="T53" fmla="*/ 8 h 68"/>
              <a:gd name="T54" fmla="*/ 39 w 55"/>
              <a:gd name="T55" fmla="*/ 35 h 68"/>
              <a:gd name="T56" fmla="*/ 27 w 55"/>
              <a:gd name="T57" fmla="*/ 45 h 68"/>
              <a:gd name="T58" fmla="*/ 6 w 55"/>
              <a:gd name="T59" fmla="*/ 18 h 68"/>
              <a:gd name="T60" fmla="*/ 28 w 55"/>
              <a:gd name="T61" fmla="*/ 47 h 68"/>
              <a:gd name="T62" fmla="*/ 41 w 55"/>
              <a:gd name="T63" fmla="*/ 37 h 68"/>
              <a:gd name="T64" fmla="*/ 48 w 55"/>
              <a:gd name="T65" fmla="*/ 47 h 68"/>
              <a:gd name="T66" fmla="*/ 36 w 55"/>
              <a:gd name="T67" fmla="*/ 57 h 68"/>
              <a:gd name="T68" fmla="*/ 28 w 55"/>
              <a:gd name="T69" fmla="*/ 47 h 68"/>
              <a:gd name="T70" fmla="*/ 38 w 55"/>
              <a:gd name="T71" fmla="*/ 58 h 68"/>
              <a:gd name="T72" fmla="*/ 49 w 55"/>
              <a:gd name="T73" fmla="*/ 49 h 68"/>
              <a:gd name="T74" fmla="*/ 52 w 55"/>
              <a:gd name="T75" fmla="*/ 65 h 68"/>
              <a:gd name="T76" fmla="*/ 38 w 55"/>
              <a:gd name="T77" fmla="*/ 5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5" h="68">
                <a:moveTo>
                  <a:pt x="55" y="67"/>
                </a:moveTo>
                <a:cubicBezTo>
                  <a:pt x="51" y="47"/>
                  <a:pt x="51" y="47"/>
                  <a:pt x="51" y="47"/>
                </a:cubicBezTo>
                <a:cubicBezTo>
                  <a:pt x="51" y="47"/>
                  <a:pt x="51" y="47"/>
                  <a:pt x="51" y="47"/>
                </a:cubicBezTo>
                <a:cubicBezTo>
                  <a:pt x="51" y="47"/>
                  <a:pt x="51" y="47"/>
                  <a:pt x="51" y="47"/>
                </a:cubicBezTo>
                <a:cubicBezTo>
                  <a:pt x="51" y="47"/>
                  <a:pt x="51" y="47"/>
                  <a:pt x="51" y="47"/>
                </a:cubicBezTo>
                <a:cubicBezTo>
                  <a:pt x="51" y="47"/>
                  <a:pt x="51" y="47"/>
                  <a:pt x="51" y="47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19" y="6"/>
                  <a:pt x="19" y="6"/>
                </a:cubicBezTo>
                <a:cubicBezTo>
                  <a:pt x="16" y="2"/>
                  <a:pt x="11" y="0"/>
                  <a:pt x="8" y="3"/>
                </a:cubicBezTo>
                <a:cubicBezTo>
                  <a:pt x="4" y="6"/>
                  <a:pt x="4" y="6"/>
                  <a:pt x="4" y="6"/>
                </a:cubicBezTo>
                <a:cubicBezTo>
                  <a:pt x="0" y="9"/>
                  <a:pt x="0" y="14"/>
                  <a:pt x="3" y="18"/>
                </a:cubicBezTo>
                <a:cubicBezTo>
                  <a:pt x="35" y="59"/>
                  <a:pt x="35" y="59"/>
                  <a:pt x="35" y="59"/>
                </a:cubicBezTo>
                <a:cubicBezTo>
                  <a:pt x="35" y="59"/>
                  <a:pt x="35" y="59"/>
                  <a:pt x="35" y="59"/>
                </a:cubicBezTo>
                <a:cubicBezTo>
                  <a:pt x="35" y="59"/>
                  <a:pt x="35" y="59"/>
                  <a:pt x="35" y="59"/>
                </a:cubicBezTo>
                <a:cubicBezTo>
                  <a:pt x="35" y="59"/>
                  <a:pt x="35" y="59"/>
                  <a:pt x="35" y="59"/>
                </a:cubicBezTo>
                <a:cubicBezTo>
                  <a:pt x="35" y="59"/>
                  <a:pt x="35" y="59"/>
                  <a:pt x="35" y="59"/>
                </a:cubicBezTo>
                <a:cubicBezTo>
                  <a:pt x="53" y="68"/>
                  <a:pt x="53" y="68"/>
                  <a:pt x="53" y="68"/>
                </a:cubicBezTo>
                <a:cubicBezTo>
                  <a:pt x="53" y="68"/>
                  <a:pt x="54" y="68"/>
                  <a:pt x="54" y="68"/>
                </a:cubicBezTo>
                <a:cubicBezTo>
                  <a:pt x="54" y="68"/>
                  <a:pt x="54" y="68"/>
                  <a:pt x="55" y="68"/>
                </a:cubicBezTo>
                <a:cubicBezTo>
                  <a:pt x="55" y="68"/>
                  <a:pt x="55" y="67"/>
                  <a:pt x="55" y="67"/>
                </a:cubicBezTo>
                <a:close/>
                <a:moveTo>
                  <a:pt x="5" y="8"/>
                </a:moveTo>
                <a:cubicBezTo>
                  <a:pt x="9" y="5"/>
                  <a:pt x="9" y="5"/>
                  <a:pt x="9" y="5"/>
                </a:cubicBezTo>
                <a:cubicBezTo>
                  <a:pt x="11" y="3"/>
                  <a:pt x="14" y="4"/>
                  <a:pt x="17" y="6"/>
                </a:cubicBezTo>
                <a:cubicBezTo>
                  <a:pt x="5" y="16"/>
                  <a:pt x="5" y="16"/>
                  <a:pt x="5" y="16"/>
                </a:cubicBezTo>
                <a:cubicBezTo>
                  <a:pt x="3" y="13"/>
                  <a:pt x="3" y="9"/>
                  <a:pt x="5" y="8"/>
                </a:cubicBezTo>
                <a:close/>
                <a:moveTo>
                  <a:pt x="6" y="18"/>
                </a:moveTo>
                <a:cubicBezTo>
                  <a:pt x="18" y="8"/>
                  <a:pt x="18" y="8"/>
                  <a:pt x="18" y="8"/>
                </a:cubicBezTo>
                <a:cubicBezTo>
                  <a:pt x="39" y="35"/>
                  <a:pt x="39" y="35"/>
                  <a:pt x="39" y="35"/>
                </a:cubicBezTo>
                <a:cubicBezTo>
                  <a:pt x="27" y="45"/>
                  <a:pt x="27" y="45"/>
                  <a:pt x="27" y="45"/>
                </a:cubicBezTo>
                <a:lnTo>
                  <a:pt x="6" y="18"/>
                </a:lnTo>
                <a:close/>
                <a:moveTo>
                  <a:pt x="28" y="47"/>
                </a:moveTo>
                <a:cubicBezTo>
                  <a:pt x="41" y="37"/>
                  <a:pt x="41" y="37"/>
                  <a:pt x="41" y="37"/>
                </a:cubicBezTo>
                <a:cubicBezTo>
                  <a:pt x="48" y="47"/>
                  <a:pt x="48" y="47"/>
                  <a:pt x="48" y="47"/>
                </a:cubicBezTo>
                <a:cubicBezTo>
                  <a:pt x="36" y="57"/>
                  <a:pt x="36" y="57"/>
                  <a:pt x="36" y="57"/>
                </a:cubicBezTo>
                <a:lnTo>
                  <a:pt x="28" y="47"/>
                </a:lnTo>
                <a:close/>
                <a:moveTo>
                  <a:pt x="38" y="58"/>
                </a:moveTo>
                <a:cubicBezTo>
                  <a:pt x="49" y="49"/>
                  <a:pt x="49" y="49"/>
                  <a:pt x="49" y="49"/>
                </a:cubicBezTo>
                <a:cubicBezTo>
                  <a:pt x="52" y="65"/>
                  <a:pt x="52" y="65"/>
                  <a:pt x="52" y="65"/>
                </a:cubicBezTo>
                <a:lnTo>
                  <a:pt x="38" y="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26" name="Freeform 11"/>
          <p:cNvSpPr>
            <a:spLocks noEditPoints="1"/>
          </p:cNvSpPr>
          <p:nvPr userDrawn="1"/>
        </p:nvSpPr>
        <p:spPr bwMode="auto">
          <a:xfrm>
            <a:off x="18419714" y="2878233"/>
            <a:ext cx="646417" cy="801166"/>
          </a:xfrm>
          <a:custGeom>
            <a:avLst/>
            <a:gdLst>
              <a:gd name="T0" fmla="*/ 55 w 55"/>
              <a:gd name="T1" fmla="*/ 67 h 68"/>
              <a:gd name="T2" fmla="*/ 51 w 55"/>
              <a:gd name="T3" fmla="*/ 47 h 68"/>
              <a:gd name="T4" fmla="*/ 51 w 55"/>
              <a:gd name="T5" fmla="*/ 47 h 68"/>
              <a:gd name="T6" fmla="*/ 51 w 55"/>
              <a:gd name="T7" fmla="*/ 47 h 68"/>
              <a:gd name="T8" fmla="*/ 51 w 55"/>
              <a:gd name="T9" fmla="*/ 47 h 68"/>
              <a:gd name="T10" fmla="*/ 51 w 55"/>
              <a:gd name="T11" fmla="*/ 47 h 68"/>
              <a:gd name="T12" fmla="*/ 19 w 55"/>
              <a:gd name="T13" fmla="*/ 6 h 68"/>
              <a:gd name="T14" fmla="*/ 19 w 55"/>
              <a:gd name="T15" fmla="*/ 6 h 68"/>
              <a:gd name="T16" fmla="*/ 8 w 55"/>
              <a:gd name="T17" fmla="*/ 3 h 68"/>
              <a:gd name="T18" fmla="*/ 4 w 55"/>
              <a:gd name="T19" fmla="*/ 6 h 68"/>
              <a:gd name="T20" fmla="*/ 3 w 55"/>
              <a:gd name="T21" fmla="*/ 18 h 68"/>
              <a:gd name="T22" fmla="*/ 35 w 55"/>
              <a:gd name="T23" fmla="*/ 59 h 68"/>
              <a:gd name="T24" fmla="*/ 35 w 55"/>
              <a:gd name="T25" fmla="*/ 59 h 68"/>
              <a:gd name="T26" fmla="*/ 35 w 55"/>
              <a:gd name="T27" fmla="*/ 59 h 68"/>
              <a:gd name="T28" fmla="*/ 35 w 55"/>
              <a:gd name="T29" fmla="*/ 59 h 68"/>
              <a:gd name="T30" fmla="*/ 35 w 55"/>
              <a:gd name="T31" fmla="*/ 59 h 68"/>
              <a:gd name="T32" fmla="*/ 53 w 55"/>
              <a:gd name="T33" fmla="*/ 68 h 68"/>
              <a:gd name="T34" fmla="*/ 54 w 55"/>
              <a:gd name="T35" fmla="*/ 68 h 68"/>
              <a:gd name="T36" fmla="*/ 55 w 55"/>
              <a:gd name="T37" fmla="*/ 68 h 68"/>
              <a:gd name="T38" fmla="*/ 55 w 55"/>
              <a:gd name="T39" fmla="*/ 67 h 68"/>
              <a:gd name="T40" fmla="*/ 5 w 55"/>
              <a:gd name="T41" fmla="*/ 8 h 68"/>
              <a:gd name="T42" fmla="*/ 9 w 55"/>
              <a:gd name="T43" fmla="*/ 5 h 68"/>
              <a:gd name="T44" fmla="*/ 17 w 55"/>
              <a:gd name="T45" fmla="*/ 6 h 68"/>
              <a:gd name="T46" fmla="*/ 5 w 55"/>
              <a:gd name="T47" fmla="*/ 16 h 68"/>
              <a:gd name="T48" fmla="*/ 5 w 55"/>
              <a:gd name="T49" fmla="*/ 8 h 68"/>
              <a:gd name="T50" fmla="*/ 6 w 55"/>
              <a:gd name="T51" fmla="*/ 18 h 68"/>
              <a:gd name="T52" fmla="*/ 18 w 55"/>
              <a:gd name="T53" fmla="*/ 8 h 68"/>
              <a:gd name="T54" fmla="*/ 39 w 55"/>
              <a:gd name="T55" fmla="*/ 35 h 68"/>
              <a:gd name="T56" fmla="*/ 27 w 55"/>
              <a:gd name="T57" fmla="*/ 45 h 68"/>
              <a:gd name="T58" fmla="*/ 6 w 55"/>
              <a:gd name="T59" fmla="*/ 18 h 68"/>
              <a:gd name="T60" fmla="*/ 28 w 55"/>
              <a:gd name="T61" fmla="*/ 47 h 68"/>
              <a:gd name="T62" fmla="*/ 41 w 55"/>
              <a:gd name="T63" fmla="*/ 37 h 68"/>
              <a:gd name="T64" fmla="*/ 48 w 55"/>
              <a:gd name="T65" fmla="*/ 47 h 68"/>
              <a:gd name="T66" fmla="*/ 36 w 55"/>
              <a:gd name="T67" fmla="*/ 57 h 68"/>
              <a:gd name="T68" fmla="*/ 28 w 55"/>
              <a:gd name="T69" fmla="*/ 47 h 68"/>
              <a:gd name="T70" fmla="*/ 38 w 55"/>
              <a:gd name="T71" fmla="*/ 58 h 68"/>
              <a:gd name="T72" fmla="*/ 49 w 55"/>
              <a:gd name="T73" fmla="*/ 49 h 68"/>
              <a:gd name="T74" fmla="*/ 52 w 55"/>
              <a:gd name="T75" fmla="*/ 65 h 68"/>
              <a:gd name="T76" fmla="*/ 38 w 55"/>
              <a:gd name="T77" fmla="*/ 5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5" h="68">
                <a:moveTo>
                  <a:pt x="55" y="67"/>
                </a:moveTo>
                <a:cubicBezTo>
                  <a:pt x="51" y="47"/>
                  <a:pt x="51" y="47"/>
                  <a:pt x="51" y="47"/>
                </a:cubicBezTo>
                <a:cubicBezTo>
                  <a:pt x="51" y="47"/>
                  <a:pt x="51" y="47"/>
                  <a:pt x="51" y="47"/>
                </a:cubicBezTo>
                <a:cubicBezTo>
                  <a:pt x="51" y="47"/>
                  <a:pt x="51" y="47"/>
                  <a:pt x="51" y="47"/>
                </a:cubicBezTo>
                <a:cubicBezTo>
                  <a:pt x="51" y="47"/>
                  <a:pt x="51" y="47"/>
                  <a:pt x="51" y="47"/>
                </a:cubicBezTo>
                <a:cubicBezTo>
                  <a:pt x="51" y="47"/>
                  <a:pt x="51" y="47"/>
                  <a:pt x="51" y="47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19" y="6"/>
                  <a:pt x="19" y="6"/>
                </a:cubicBezTo>
                <a:cubicBezTo>
                  <a:pt x="16" y="2"/>
                  <a:pt x="11" y="0"/>
                  <a:pt x="8" y="3"/>
                </a:cubicBezTo>
                <a:cubicBezTo>
                  <a:pt x="4" y="6"/>
                  <a:pt x="4" y="6"/>
                  <a:pt x="4" y="6"/>
                </a:cubicBezTo>
                <a:cubicBezTo>
                  <a:pt x="0" y="9"/>
                  <a:pt x="0" y="14"/>
                  <a:pt x="3" y="18"/>
                </a:cubicBezTo>
                <a:cubicBezTo>
                  <a:pt x="35" y="59"/>
                  <a:pt x="35" y="59"/>
                  <a:pt x="35" y="59"/>
                </a:cubicBezTo>
                <a:cubicBezTo>
                  <a:pt x="35" y="59"/>
                  <a:pt x="35" y="59"/>
                  <a:pt x="35" y="59"/>
                </a:cubicBezTo>
                <a:cubicBezTo>
                  <a:pt x="35" y="59"/>
                  <a:pt x="35" y="59"/>
                  <a:pt x="35" y="59"/>
                </a:cubicBezTo>
                <a:cubicBezTo>
                  <a:pt x="35" y="59"/>
                  <a:pt x="35" y="59"/>
                  <a:pt x="35" y="59"/>
                </a:cubicBezTo>
                <a:cubicBezTo>
                  <a:pt x="35" y="59"/>
                  <a:pt x="35" y="59"/>
                  <a:pt x="35" y="59"/>
                </a:cubicBezTo>
                <a:cubicBezTo>
                  <a:pt x="53" y="68"/>
                  <a:pt x="53" y="68"/>
                  <a:pt x="53" y="68"/>
                </a:cubicBezTo>
                <a:cubicBezTo>
                  <a:pt x="53" y="68"/>
                  <a:pt x="54" y="68"/>
                  <a:pt x="54" y="68"/>
                </a:cubicBezTo>
                <a:cubicBezTo>
                  <a:pt x="54" y="68"/>
                  <a:pt x="54" y="68"/>
                  <a:pt x="55" y="68"/>
                </a:cubicBezTo>
                <a:cubicBezTo>
                  <a:pt x="55" y="68"/>
                  <a:pt x="55" y="67"/>
                  <a:pt x="55" y="67"/>
                </a:cubicBezTo>
                <a:close/>
                <a:moveTo>
                  <a:pt x="5" y="8"/>
                </a:moveTo>
                <a:cubicBezTo>
                  <a:pt x="9" y="5"/>
                  <a:pt x="9" y="5"/>
                  <a:pt x="9" y="5"/>
                </a:cubicBezTo>
                <a:cubicBezTo>
                  <a:pt x="11" y="3"/>
                  <a:pt x="14" y="4"/>
                  <a:pt x="17" y="6"/>
                </a:cubicBezTo>
                <a:cubicBezTo>
                  <a:pt x="5" y="16"/>
                  <a:pt x="5" y="16"/>
                  <a:pt x="5" y="16"/>
                </a:cubicBezTo>
                <a:cubicBezTo>
                  <a:pt x="3" y="13"/>
                  <a:pt x="3" y="9"/>
                  <a:pt x="5" y="8"/>
                </a:cubicBezTo>
                <a:close/>
                <a:moveTo>
                  <a:pt x="6" y="18"/>
                </a:moveTo>
                <a:cubicBezTo>
                  <a:pt x="18" y="8"/>
                  <a:pt x="18" y="8"/>
                  <a:pt x="18" y="8"/>
                </a:cubicBezTo>
                <a:cubicBezTo>
                  <a:pt x="39" y="35"/>
                  <a:pt x="39" y="35"/>
                  <a:pt x="39" y="35"/>
                </a:cubicBezTo>
                <a:cubicBezTo>
                  <a:pt x="27" y="45"/>
                  <a:pt x="27" y="45"/>
                  <a:pt x="27" y="45"/>
                </a:cubicBezTo>
                <a:lnTo>
                  <a:pt x="6" y="18"/>
                </a:lnTo>
                <a:close/>
                <a:moveTo>
                  <a:pt x="28" y="47"/>
                </a:moveTo>
                <a:cubicBezTo>
                  <a:pt x="41" y="37"/>
                  <a:pt x="41" y="37"/>
                  <a:pt x="41" y="37"/>
                </a:cubicBezTo>
                <a:cubicBezTo>
                  <a:pt x="48" y="47"/>
                  <a:pt x="48" y="47"/>
                  <a:pt x="48" y="47"/>
                </a:cubicBezTo>
                <a:cubicBezTo>
                  <a:pt x="36" y="57"/>
                  <a:pt x="36" y="57"/>
                  <a:pt x="36" y="57"/>
                </a:cubicBezTo>
                <a:lnTo>
                  <a:pt x="28" y="47"/>
                </a:lnTo>
                <a:close/>
                <a:moveTo>
                  <a:pt x="38" y="58"/>
                </a:moveTo>
                <a:cubicBezTo>
                  <a:pt x="49" y="49"/>
                  <a:pt x="49" y="49"/>
                  <a:pt x="49" y="49"/>
                </a:cubicBezTo>
                <a:cubicBezTo>
                  <a:pt x="52" y="65"/>
                  <a:pt x="52" y="65"/>
                  <a:pt x="52" y="65"/>
                </a:cubicBezTo>
                <a:lnTo>
                  <a:pt x="38" y="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27" name="Freeform 11"/>
          <p:cNvSpPr>
            <a:spLocks noEditPoints="1"/>
          </p:cNvSpPr>
          <p:nvPr userDrawn="1"/>
        </p:nvSpPr>
        <p:spPr bwMode="auto">
          <a:xfrm>
            <a:off x="18572114" y="3030633"/>
            <a:ext cx="646417" cy="801166"/>
          </a:xfrm>
          <a:custGeom>
            <a:avLst/>
            <a:gdLst>
              <a:gd name="T0" fmla="*/ 55 w 55"/>
              <a:gd name="T1" fmla="*/ 67 h 68"/>
              <a:gd name="T2" fmla="*/ 51 w 55"/>
              <a:gd name="T3" fmla="*/ 47 h 68"/>
              <a:gd name="T4" fmla="*/ 51 w 55"/>
              <a:gd name="T5" fmla="*/ 47 h 68"/>
              <a:gd name="T6" fmla="*/ 51 w 55"/>
              <a:gd name="T7" fmla="*/ 47 h 68"/>
              <a:gd name="T8" fmla="*/ 51 w 55"/>
              <a:gd name="T9" fmla="*/ 47 h 68"/>
              <a:gd name="T10" fmla="*/ 51 w 55"/>
              <a:gd name="T11" fmla="*/ 47 h 68"/>
              <a:gd name="T12" fmla="*/ 19 w 55"/>
              <a:gd name="T13" fmla="*/ 6 h 68"/>
              <a:gd name="T14" fmla="*/ 19 w 55"/>
              <a:gd name="T15" fmla="*/ 6 h 68"/>
              <a:gd name="T16" fmla="*/ 8 w 55"/>
              <a:gd name="T17" fmla="*/ 3 h 68"/>
              <a:gd name="T18" fmla="*/ 4 w 55"/>
              <a:gd name="T19" fmla="*/ 6 h 68"/>
              <a:gd name="T20" fmla="*/ 3 w 55"/>
              <a:gd name="T21" fmla="*/ 18 h 68"/>
              <a:gd name="T22" fmla="*/ 35 w 55"/>
              <a:gd name="T23" fmla="*/ 59 h 68"/>
              <a:gd name="T24" fmla="*/ 35 w 55"/>
              <a:gd name="T25" fmla="*/ 59 h 68"/>
              <a:gd name="T26" fmla="*/ 35 w 55"/>
              <a:gd name="T27" fmla="*/ 59 h 68"/>
              <a:gd name="T28" fmla="*/ 35 w 55"/>
              <a:gd name="T29" fmla="*/ 59 h 68"/>
              <a:gd name="T30" fmla="*/ 35 w 55"/>
              <a:gd name="T31" fmla="*/ 59 h 68"/>
              <a:gd name="T32" fmla="*/ 53 w 55"/>
              <a:gd name="T33" fmla="*/ 68 h 68"/>
              <a:gd name="T34" fmla="*/ 54 w 55"/>
              <a:gd name="T35" fmla="*/ 68 h 68"/>
              <a:gd name="T36" fmla="*/ 55 w 55"/>
              <a:gd name="T37" fmla="*/ 68 h 68"/>
              <a:gd name="T38" fmla="*/ 55 w 55"/>
              <a:gd name="T39" fmla="*/ 67 h 68"/>
              <a:gd name="T40" fmla="*/ 5 w 55"/>
              <a:gd name="T41" fmla="*/ 8 h 68"/>
              <a:gd name="T42" fmla="*/ 9 w 55"/>
              <a:gd name="T43" fmla="*/ 5 h 68"/>
              <a:gd name="T44" fmla="*/ 17 w 55"/>
              <a:gd name="T45" fmla="*/ 6 h 68"/>
              <a:gd name="T46" fmla="*/ 5 w 55"/>
              <a:gd name="T47" fmla="*/ 16 h 68"/>
              <a:gd name="T48" fmla="*/ 5 w 55"/>
              <a:gd name="T49" fmla="*/ 8 h 68"/>
              <a:gd name="T50" fmla="*/ 6 w 55"/>
              <a:gd name="T51" fmla="*/ 18 h 68"/>
              <a:gd name="T52" fmla="*/ 18 w 55"/>
              <a:gd name="T53" fmla="*/ 8 h 68"/>
              <a:gd name="T54" fmla="*/ 39 w 55"/>
              <a:gd name="T55" fmla="*/ 35 h 68"/>
              <a:gd name="T56" fmla="*/ 27 w 55"/>
              <a:gd name="T57" fmla="*/ 45 h 68"/>
              <a:gd name="T58" fmla="*/ 6 w 55"/>
              <a:gd name="T59" fmla="*/ 18 h 68"/>
              <a:gd name="T60" fmla="*/ 28 w 55"/>
              <a:gd name="T61" fmla="*/ 47 h 68"/>
              <a:gd name="T62" fmla="*/ 41 w 55"/>
              <a:gd name="T63" fmla="*/ 37 h 68"/>
              <a:gd name="T64" fmla="*/ 48 w 55"/>
              <a:gd name="T65" fmla="*/ 47 h 68"/>
              <a:gd name="T66" fmla="*/ 36 w 55"/>
              <a:gd name="T67" fmla="*/ 57 h 68"/>
              <a:gd name="T68" fmla="*/ 28 w 55"/>
              <a:gd name="T69" fmla="*/ 47 h 68"/>
              <a:gd name="T70" fmla="*/ 38 w 55"/>
              <a:gd name="T71" fmla="*/ 58 h 68"/>
              <a:gd name="T72" fmla="*/ 49 w 55"/>
              <a:gd name="T73" fmla="*/ 49 h 68"/>
              <a:gd name="T74" fmla="*/ 52 w 55"/>
              <a:gd name="T75" fmla="*/ 65 h 68"/>
              <a:gd name="T76" fmla="*/ 38 w 55"/>
              <a:gd name="T77" fmla="*/ 5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5" h="68">
                <a:moveTo>
                  <a:pt x="55" y="67"/>
                </a:moveTo>
                <a:cubicBezTo>
                  <a:pt x="51" y="47"/>
                  <a:pt x="51" y="47"/>
                  <a:pt x="51" y="47"/>
                </a:cubicBezTo>
                <a:cubicBezTo>
                  <a:pt x="51" y="47"/>
                  <a:pt x="51" y="47"/>
                  <a:pt x="51" y="47"/>
                </a:cubicBezTo>
                <a:cubicBezTo>
                  <a:pt x="51" y="47"/>
                  <a:pt x="51" y="47"/>
                  <a:pt x="51" y="47"/>
                </a:cubicBezTo>
                <a:cubicBezTo>
                  <a:pt x="51" y="47"/>
                  <a:pt x="51" y="47"/>
                  <a:pt x="51" y="47"/>
                </a:cubicBezTo>
                <a:cubicBezTo>
                  <a:pt x="51" y="47"/>
                  <a:pt x="51" y="47"/>
                  <a:pt x="51" y="47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19" y="6"/>
                  <a:pt x="19" y="6"/>
                </a:cubicBezTo>
                <a:cubicBezTo>
                  <a:pt x="16" y="2"/>
                  <a:pt x="11" y="0"/>
                  <a:pt x="8" y="3"/>
                </a:cubicBezTo>
                <a:cubicBezTo>
                  <a:pt x="4" y="6"/>
                  <a:pt x="4" y="6"/>
                  <a:pt x="4" y="6"/>
                </a:cubicBezTo>
                <a:cubicBezTo>
                  <a:pt x="0" y="9"/>
                  <a:pt x="0" y="14"/>
                  <a:pt x="3" y="18"/>
                </a:cubicBezTo>
                <a:cubicBezTo>
                  <a:pt x="35" y="59"/>
                  <a:pt x="35" y="59"/>
                  <a:pt x="35" y="59"/>
                </a:cubicBezTo>
                <a:cubicBezTo>
                  <a:pt x="35" y="59"/>
                  <a:pt x="35" y="59"/>
                  <a:pt x="35" y="59"/>
                </a:cubicBezTo>
                <a:cubicBezTo>
                  <a:pt x="35" y="59"/>
                  <a:pt x="35" y="59"/>
                  <a:pt x="35" y="59"/>
                </a:cubicBezTo>
                <a:cubicBezTo>
                  <a:pt x="35" y="59"/>
                  <a:pt x="35" y="59"/>
                  <a:pt x="35" y="59"/>
                </a:cubicBezTo>
                <a:cubicBezTo>
                  <a:pt x="35" y="59"/>
                  <a:pt x="35" y="59"/>
                  <a:pt x="35" y="59"/>
                </a:cubicBezTo>
                <a:cubicBezTo>
                  <a:pt x="53" y="68"/>
                  <a:pt x="53" y="68"/>
                  <a:pt x="53" y="68"/>
                </a:cubicBezTo>
                <a:cubicBezTo>
                  <a:pt x="53" y="68"/>
                  <a:pt x="54" y="68"/>
                  <a:pt x="54" y="68"/>
                </a:cubicBezTo>
                <a:cubicBezTo>
                  <a:pt x="54" y="68"/>
                  <a:pt x="54" y="68"/>
                  <a:pt x="55" y="68"/>
                </a:cubicBezTo>
                <a:cubicBezTo>
                  <a:pt x="55" y="68"/>
                  <a:pt x="55" y="67"/>
                  <a:pt x="55" y="67"/>
                </a:cubicBezTo>
                <a:close/>
                <a:moveTo>
                  <a:pt x="5" y="8"/>
                </a:moveTo>
                <a:cubicBezTo>
                  <a:pt x="9" y="5"/>
                  <a:pt x="9" y="5"/>
                  <a:pt x="9" y="5"/>
                </a:cubicBezTo>
                <a:cubicBezTo>
                  <a:pt x="11" y="3"/>
                  <a:pt x="14" y="4"/>
                  <a:pt x="17" y="6"/>
                </a:cubicBezTo>
                <a:cubicBezTo>
                  <a:pt x="5" y="16"/>
                  <a:pt x="5" y="16"/>
                  <a:pt x="5" y="16"/>
                </a:cubicBezTo>
                <a:cubicBezTo>
                  <a:pt x="3" y="13"/>
                  <a:pt x="3" y="9"/>
                  <a:pt x="5" y="8"/>
                </a:cubicBezTo>
                <a:close/>
                <a:moveTo>
                  <a:pt x="6" y="18"/>
                </a:moveTo>
                <a:cubicBezTo>
                  <a:pt x="18" y="8"/>
                  <a:pt x="18" y="8"/>
                  <a:pt x="18" y="8"/>
                </a:cubicBezTo>
                <a:cubicBezTo>
                  <a:pt x="39" y="35"/>
                  <a:pt x="39" y="35"/>
                  <a:pt x="39" y="35"/>
                </a:cubicBezTo>
                <a:cubicBezTo>
                  <a:pt x="27" y="45"/>
                  <a:pt x="27" y="45"/>
                  <a:pt x="27" y="45"/>
                </a:cubicBezTo>
                <a:lnTo>
                  <a:pt x="6" y="18"/>
                </a:lnTo>
                <a:close/>
                <a:moveTo>
                  <a:pt x="28" y="47"/>
                </a:moveTo>
                <a:cubicBezTo>
                  <a:pt x="41" y="37"/>
                  <a:pt x="41" y="37"/>
                  <a:pt x="41" y="37"/>
                </a:cubicBezTo>
                <a:cubicBezTo>
                  <a:pt x="48" y="47"/>
                  <a:pt x="48" y="47"/>
                  <a:pt x="48" y="47"/>
                </a:cubicBezTo>
                <a:cubicBezTo>
                  <a:pt x="36" y="57"/>
                  <a:pt x="36" y="57"/>
                  <a:pt x="36" y="57"/>
                </a:cubicBezTo>
                <a:lnTo>
                  <a:pt x="28" y="47"/>
                </a:lnTo>
                <a:close/>
                <a:moveTo>
                  <a:pt x="38" y="58"/>
                </a:moveTo>
                <a:cubicBezTo>
                  <a:pt x="49" y="49"/>
                  <a:pt x="49" y="49"/>
                  <a:pt x="49" y="49"/>
                </a:cubicBezTo>
                <a:cubicBezTo>
                  <a:pt x="52" y="65"/>
                  <a:pt x="52" y="65"/>
                  <a:pt x="52" y="65"/>
                </a:cubicBezTo>
                <a:lnTo>
                  <a:pt x="38" y="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30" name="Round Same Side Corner Rectangle 29"/>
          <p:cNvSpPr/>
          <p:nvPr userDrawn="1"/>
        </p:nvSpPr>
        <p:spPr>
          <a:xfrm rot="5400000">
            <a:off x="1499944" y="-1329766"/>
            <a:ext cx="799475" cy="3799361"/>
          </a:xfrm>
          <a:prstGeom prst="round2Same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11"/>
          </p:nvPr>
        </p:nvSpPr>
        <p:spPr>
          <a:xfrm>
            <a:off x="1626553" y="250195"/>
            <a:ext cx="5659437" cy="671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3" name="Round Same Side Corner Rectangle 32"/>
          <p:cNvSpPr/>
          <p:nvPr userDrawn="1"/>
        </p:nvSpPr>
        <p:spPr>
          <a:xfrm rot="5400000">
            <a:off x="1563925" y="-1329766"/>
            <a:ext cx="671510" cy="3799360"/>
          </a:xfrm>
          <a:prstGeom prst="round2SameRect">
            <a:avLst/>
          </a:prstGeom>
          <a:solidFill>
            <a:srgbClr val="2A17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6936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7ABD5-A362-45EF-9987-2C6186739F84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78BE4-E71A-4AE6-8999-30644C9071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830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7ABD5-A362-45EF-9987-2C6186739F84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78BE4-E71A-4AE6-8999-30644C9071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383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 userDrawn="1"/>
        </p:nvSpPr>
        <p:spPr>
          <a:xfrm rot="11348698" flipH="1">
            <a:off x="-6550" y="6541008"/>
            <a:ext cx="1665254" cy="434314"/>
          </a:xfrm>
          <a:custGeom>
            <a:avLst/>
            <a:gdLst>
              <a:gd name="connsiteX0" fmla="*/ 0 w 1569025"/>
              <a:gd name="connsiteY0" fmla="*/ 334496 h 374853"/>
              <a:gd name="connsiteX1" fmla="*/ 0 w 1569025"/>
              <a:gd name="connsiteY1" fmla="*/ 300004 h 374853"/>
              <a:gd name="connsiteX2" fmla="*/ 45140 w 1569025"/>
              <a:gd name="connsiteY2" fmla="*/ 0 h 374853"/>
              <a:gd name="connsiteX3" fmla="*/ 1569025 w 1569025"/>
              <a:gd name="connsiteY3" fmla="*/ 229287 h 374853"/>
              <a:gd name="connsiteX4" fmla="*/ 1569025 w 1569025"/>
              <a:gd name="connsiteY4" fmla="*/ 234713 h 374853"/>
              <a:gd name="connsiteX5" fmla="*/ 0 w 1569025"/>
              <a:gd name="connsiteY5" fmla="*/ 334496 h 374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9025" h="374853">
                <a:moveTo>
                  <a:pt x="0" y="334496"/>
                </a:moveTo>
                <a:lnTo>
                  <a:pt x="0" y="300004"/>
                </a:lnTo>
                <a:lnTo>
                  <a:pt x="45140" y="0"/>
                </a:lnTo>
                <a:lnTo>
                  <a:pt x="1569025" y="229287"/>
                </a:lnTo>
                <a:lnTo>
                  <a:pt x="1569025" y="234713"/>
                </a:lnTo>
                <a:cubicBezTo>
                  <a:pt x="784512" y="234713"/>
                  <a:pt x="784513" y="465790"/>
                  <a:pt x="0" y="334496"/>
                </a:cubicBezTo>
                <a:close/>
              </a:path>
            </a:pathLst>
          </a:custGeom>
          <a:solidFill>
            <a:srgbClr val="2A17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1" name="Freeform 10"/>
          <p:cNvSpPr/>
          <p:nvPr userDrawn="1"/>
        </p:nvSpPr>
        <p:spPr>
          <a:xfrm rot="584880" flipH="1">
            <a:off x="10555130" y="-134112"/>
            <a:ext cx="1665254" cy="434314"/>
          </a:xfrm>
          <a:custGeom>
            <a:avLst/>
            <a:gdLst>
              <a:gd name="connsiteX0" fmla="*/ 0 w 1569025"/>
              <a:gd name="connsiteY0" fmla="*/ 334496 h 374853"/>
              <a:gd name="connsiteX1" fmla="*/ 0 w 1569025"/>
              <a:gd name="connsiteY1" fmla="*/ 300004 h 374853"/>
              <a:gd name="connsiteX2" fmla="*/ 45140 w 1569025"/>
              <a:gd name="connsiteY2" fmla="*/ 0 h 374853"/>
              <a:gd name="connsiteX3" fmla="*/ 1569025 w 1569025"/>
              <a:gd name="connsiteY3" fmla="*/ 229287 h 374853"/>
              <a:gd name="connsiteX4" fmla="*/ 1569025 w 1569025"/>
              <a:gd name="connsiteY4" fmla="*/ 234713 h 374853"/>
              <a:gd name="connsiteX5" fmla="*/ 0 w 1569025"/>
              <a:gd name="connsiteY5" fmla="*/ 334496 h 374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9025" h="374853">
                <a:moveTo>
                  <a:pt x="0" y="334496"/>
                </a:moveTo>
                <a:lnTo>
                  <a:pt x="0" y="300004"/>
                </a:lnTo>
                <a:lnTo>
                  <a:pt x="45140" y="0"/>
                </a:lnTo>
                <a:lnTo>
                  <a:pt x="1569025" y="229287"/>
                </a:lnTo>
                <a:lnTo>
                  <a:pt x="1569025" y="234713"/>
                </a:lnTo>
                <a:cubicBezTo>
                  <a:pt x="784512" y="234713"/>
                  <a:pt x="784513" y="465790"/>
                  <a:pt x="0" y="334496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4" name="Picture 3" descr="A blue smoke with black text  Description automatically generated">
            <a:extLst>
              <a:ext uri="{FF2B5EF4-FFF2-40B4-BE49-F238E27FC236}">
                <a16:creationId xmlns:a16="http://schemas.microsoft.com/office/drawing/2014/main" id="{EA93CD52-359D-B8A3-0E29-5B80499461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672" y="1272911"/>
            <a:ext cx="7186964" cy="431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6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7ABD5-A362-45EF-9987-2C6186739F84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78BE4-E71A-4AE6-8999-30644C9071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12084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7ABD5-A362-45EF-9987-2C6186739F84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78BE4-E71A-4AE6-8999-30644C9071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900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14894" y="4524740"/>
            <a:ext cx="11122430" cy="612962"/>
          </a:xfrm>
        </p:spPr>
        <p:txBody>
          <a:bodyPr/>
          <a:lstStyle/>
          <a:p>
            <a:r>
              <a:rPr lang="en-US" dirty="0"/>
              <a:t>CocoGuard: A Multi-Modal Deep Learning Framework for Automated Coconut Disease Classification and Treatment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20198" y="5410175"/>
            <a:ext cx="74483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Bahnschrift" panose="020B0502040204020203" pitchFamily="34" charset="0"/>
              </a:rPr>
              <a:t xml:space="preserve">Nikhitha A                   </a:t>
            </a:r>
            <a:r>
              <a:rPr lang="en-US" sz="1600" dirty="0"/>
              <a:t>Department of Computer Science and Engineering</a:t>
            </a:r>
            <a:br>
              <a:rPr lang="en-US" sz="1400" dirty="0"/>
            </a:br>
            <a:r>
              <a:rPr lang="en-US" sz="1600" dirty="0"/>
              <a:t xml:space="preserve">                                                  The National Institute of Engineering, Mysore, India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Bahnschrift" panose="020B0502040204020203" pitchFamily="34" charset="0"/>
              </a:rPr>
              <a:t xml:space="preserve">Dr. V.K. Annapurna            </a:t>
            </a:r>
            <a:r>
              <a:rPr lang="en-US" sz="1600" dirty="0"/>
              <a:t>Department of Computer Science and Engineering</a:t>
            </a:r>
            <a:br>
              <a:rPr lang="en-US" sz="1400" dirty="0"/>
            </a:br>
            <a:r>
              <a:rPr lang="en-US" sz="1600" dirty="0"/>
              <a:t xml:space="preserve">                                                  The National Institute of Engineering, Mysore,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C3E9FC-77C7-43F4-B2AE-812A2450584B}"/>
              </a:ext>
            </a:extLst>
          </p:cNvPr>
          <p:cNvSpPr txBox="1">
            <a:spLocks/>
          </p:cNvSpPr>
          <p:nvPr/>
        </p:nvSpPr>
        <p:spPr>
          <a:xfrm>
            <a:off x="4404360" y="840477"/>
            <a:ext cx="10528177" cy="49400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b="1" dirty="0">
              <a:latin typeface="Lucida Console" panose="020B0609040504020204" pitchFamily="49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13698" y="2996848"/>
            <a:ext cx="3362007" cy="6715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4800" b="1" dirty="0">
                <a:solidFill>
                  <a:schemeClr val="bg1"/>
                </a:solidFill>
                <a:latin typeface="Lucida Console" panose="020B0609040504020204" pitchFamily="49" charset="0"/>
              </a:rPr>
              <a:t>Contents</a:t>
            </a:r>
            <a:endParaRPr lang="en-US" sz="480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44240" y="770896"/>
            <a:ext cx="1981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Lucida Console" panose="020B0609040504020204" pitchFamily="49" charset="0"/>
              </a:rPr>
              <a:t>Abstract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64560" y="1385669"/>
            <a:ext cx="2661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Lucida Console" panose="020B0609040504020204" pitchFamily="49" charset="0"/>
              </a:rPr>
              <a:t>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592025" y="2020344"/>
            <a:ext cx="36837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2400" b="1" dirty="0">
                <a:latin typeface="Lucida Console" panose="020B0609040504020204" pitchFamily="49" charset="0"/>
              </a:rPr>
              <a:t>Literature Survey</a:t>
            </a:r>
          </a:p>
        </p:txBody>
      </p:sp>
      <p:sp>
        <p:nvSpPr>
          <p:cNvPr id="8" name="Rectangle 7"/>
          <p:cNvSpPr/>
          <p:nvPr/>
        </p:nvSpPr>
        <p:spPr>
          <a:xfrm>
            <a:off x="3774440" y="2673556"/>
            <a:ext cx="38884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2400" b="1" dirty="0">
                <a:latin typeface="Lucida Console" panose="020B0609040504020204" pitchFamily="49" charset="0"/>
              </a:rPr>
              <a:t>Problem Definition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1005" y="3332604"/>
            <a:ext cx="28648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2400" b="1" dirty="0">
                <a:latin typeface="Lucida Console" panose="020B0609040504020204" pitchFamily="49" charset="0"/>
              </a:rPr>
              <a:t>Proposed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08904" y="3961666"/>
            <a:ext cx="63585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2400" b="1" dirty="0">
                <a:latin typeface="Lucida Console" panose="020B0609040504020204" pitchFamily="49" charset="0"/>
              </a:rPr>
              <a:t>Methodology &amp; Implementation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9384" y="4483799"/>
            <a:ext cx="45026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2400" b="1" dirty="0">
                <a:latin typeface="Lucida Console" panose="020B0609040504020204" pitchFamily="49" charset="0"/>
              </a:rPr>
              <a:t>Results &amp; Discussions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5440" y="5112861"/>
            <a:ext cx="22506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2400" b="1" dirty="0">
                <a:latin typeface="Lucida Console" panose="020B0609040504020204" pitchFamily="49" charset="0"/>
              </a:rPr>
              <a:t>Conclusion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5674013"/>
            <a:ext cx="24959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2400" b="1" dirty="0">
                <a:latin typeface="Lucida Console" panose="020B0609040504020204" pitchFamily="49" charset="0"/>
              </a:rPr>
              <a:t>References</a:t>
            </a:r>
            <a:endParaRPr lang="en-US" sz="2400" b="1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138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016953" y="270515"/>
            <a:ext cx="5659437" cy="6715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Lucida Console" panose="020B0609040504020204" pitchFamily="49" charset="0"/>
              </a:rPr>
              <a:t>Abstract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16953" y="1200000"/>
            <a:ext cx="10158094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Coconut farming involves over 10 million growers globally, facing yield losses of 15-75% due to foliar and stem diseases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Proposes CocoGuard: multi-modal deep learning framework using MobileNetV2, DenseNet121, and Custom CNN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5 coconut diseases: Bud Rot, Stem Bleeding, Leaf Rot, Gray Leaf Spot, Bud Root Dropping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on 8,741 images from Karnataka plantations using transfer learning and data augmentation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accuracy: 99.39% | All models achieve Precision, Recall, F1 above 99%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34 evidence-based treatment protocols from ICAR-CPCRI research (1922-2024)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visualizations increase farmer trust from 43% to 81%; end-to-end inference under 1.85 seconds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as responsive Flask web application accessible on mobile and desktop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016953" y="270515"/>
            <a:ext cx="5659437" cy="6715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Lucida Console" panose="020B0609040504020204" pitchFamily="49" charset="0"/>
              </a:rPr>
              <a:t>Introduction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16953" y="1200000"/>
            <a:ext cx="10158094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Cocos nucifera L. (coconut) is critical to over 10 million farming families globally; India produces 11.93 million tonnes annually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Diseases cause yield losses of 15-75%: Bud Rot (Phytophthora palmivora), Stem Bleeding (Thielaviopsis paradoxa), Leaf Rot, Gray Leaf Spot, Bud Root Dropping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diagnosis relies on visual inspection by agricultural experts - unavailable in rural/remote areas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75%+ treatment gap in low- and middle-income countries; fewer than 1 agricultural expert per 100,000 in developing nations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deep learning achieves results rivaling human experts in automated plant disease detection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overcomes limited agricultural data; smartphones (12MP+) enable mobile-based disease diagnosis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unified system: disease detection + treatment recommendation + visual explainability + web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016953" y="270515"/>
            <a:ext cx="5659437" cy="6715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Lucida Console" panose="020B0609040504020204" pitchFamily="49" charset="0"/>
              </a:rPr>
              <a:t>Literature Survey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16953" y="1100000"/>
            <a:ext cx="10158094" cy="51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Islam et al. (2025) - Hybrid ViT (EfficientNetB3 + Transformer): 98.36% on 5,798 images; no treatment/UI</a:t>
            </a:r>
          </a:p>
          <a:p>
            <a:pPr marL="285750" lvl="0" indent="-28575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Bacuna &amp; Ballera (2024) - iLuVsion CNN (VGG16): 98.21% on 661 drone images; 5 disease types in Philippines</a:t>
            </a:r>
          </a:p>
          <a:p>
            <a:pPr marL="285750" lvl="0" indent="-28575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Inception V3 + XAI (2024): 98.82% on 6 leaf disease categories; web interface with treatment suggestions</a:t>
            </a:r>
          </a:p>
          <a:p>
            <a:pPr marL="285750" lvl="0" indent="-28575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Santhiya et al. (2024) - DenseNet-based CNN: 95% accuracy; 5037 mobile images; no web deployment</a:t>
            </a:r>
          </a:p>
          <a:p>
            <a:pPr marL="285750" lvl="0" indent="-28575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DenseNet121 (2023): 99% accuracy; 5 disease classes; dataset too small; no treatment recommendations</a:t>
            </a:r>
          </a:p>
          <a:p>
            <a:pPr marL="285750" lvl="0" indent="-28575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ResNet50 Transfer Learning (2024): 98.70% (Adam optimizer); 10,222 Kaggle images; single model only</a:t>
            </a:r>
          </a:p>
          <a:p>
            <a:pPr marL="285750" lvl="0" indent="-28575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Latha et al. (2023) - Biocontrol for Bud Rot: Trichoderma + B. subtilis + AM fungi; 77.12% nursery efficacy</a:t>
            </a:r>
          </a:p>
          <a:p>
            <a:pPr marL="285750" lvl="0" indent="-28575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Brar et al. (2023) - ResNext50 for severity: 90.77% on 10,000 images; 6 severity levels; no treatment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016953" y="270515"/>
            <a:ext cx="5659437" cy="6715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Lucida Console" panose="020B0609040504020204" pitchFamily="49" charset="0"/>
              </a:rPr>
              <a:t>Literature Survey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16953" y="1100000"/>
            <a:ext cx="10158094" cy="51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Singh et al. (2024) - Review: DL outperforms ML in all plant disease recognition; transfer learning key for small datasets</a:t>
            </a:r>
          </a:p>
          <a:p>
            <a:pPr marL="285750" lvl="0" indent="-28575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Anitha &amp; Santhi (2023) - DenseNet: 99% accuracy; 5 disease classes; no IoT/real-time monitoring</a:t>
            </a:r>
          </a:p>
          <a:p>
            <a:pPr marL="285750" lvl="0" indent="-28575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Bharathi &amp; Harini (2020) - Cubic SVM + GLCM: 97.3%; early baseline before deep learning era</a:t>
            </a:r>
          </a:p>
          <a:p>
            <a:pPr marL="285750" lvl="0" indent="-28575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Elahi et al. (2024) - COCOSCAN: Custom CNN + rule-based treatment; 92.5% accuracy; web application</a:t>
            </a:r>
          </a:p>
          <a:p>
            <a:pPr marL="285750" lvl="0" indent="-28575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Vidhanaarachchi et al. (2021) - DenseNet121/InceptionResNetV2 for Sri Lankan diseases: 88-97% accuracy</a:t>
            </a:r>
          </a:p>
          <a:p>
            <a:pPr marL="285750" lvl="0" indent="-28575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Nesarajan et al. (2020) - Android app: SVM (93.54%) + EfficientNetB0 (93.72%); pest + nutrient detection</a:t>
            </a:r>
          </a:p>
          <a:p>
            <a:pPr marL="285750" lvl="0" indent="-28575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Maray et al. (2022) - AIE-CTDDC: CapsNet + HHO-GRU: 97.75% on 4 disease classes</a:t>
            </a:r>
          </a:p>
          <a:p>
            <a:pPr marL="285750" lvl="0" indent="-28575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 Trend from ML to DL to hybrid models; gaps in treatment integration, explainability, and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016953" y="270515"/>
            <a:ext cx="5659437" cy="6715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Lucida Console" panose="020B0609040504020204" pitchFamily="49" charset="0"/>
              </a:rPr>
              <a:t>Problem Definition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16953" y="1200000"/>
            <a:ext cx="10158094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coconut disease systems use single-model architectures without ensemble validation, reducing robustness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existing system links disease diagnosis directly with evidence-based, ranked treatment recommendations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Black-box AI predictions not trusted by farmers without visual explanation of decision-making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datasets are small, single-location, and do not cover all five major coconut diseases comprehensively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complete end-to-end pipeline from training to optimization to web deployment accessible to non-experts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Build a multi-model ensemble framework with explainable AI, integrated treatment database, and mobile-accessible web app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of existing works ranges from 87.6% (SVM) to 98.36% (Hybrid ViT); CocoGuard targets 99%+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016953" y="270515"/>
            <a:ext cx="5659437" cy="6715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Lucida Console" panose="020B0609040504020204" pitchFamily="49" charset="0"/>
              </a:rPr>
              <a:t>Proposed Work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16953" y="1200000"/>
            <a:ext cx="10158094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CocoGuard: End-to-end multi-modal deep learning framework for coconut disease classification and treatment recommendation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Key Contributions: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Multi-model ensemble: MobileNetV2 + DenseNet121 + Custom CNN with majority voting (98.4% consensus rate)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30-class multiclass classification across 5 disease categories on 8,741 images from Karnataka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Comparative analysis: Baseline vs. optimized models; McNemar's test (p &gt; 0.05) shows statistical equivalence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Real-time Flask web app with Grad-CAM explainability; top treatment protocols with confidence scores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34 research-validated treatment protocols from ICAR-CPCRI (47% cost saving with organic alternatives)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016953" y="270515"/>
            <a:ext cx="5659437" cy="6715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Lucida Console" panose="020B0609040504020204" pitchFamily="49" charset="0"/>
              </a:rPr>
              <a:t>Methodology &amp; Implementation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16953" y="1200000"/>
            <a:ext cx="10158094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5,798 high-resolution coconut disease images from Karnataka plantations (2024-25 growing season)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disease classes: Bud Rot (1,052), Stem Bleeding (891), Leaf Rot (1,234), Gray Leaf Spot (1,106), Bud Root Dropping (1,515)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images validated by expert plant pathologists via microscopic examination and field diagnosis protocols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augmentation: horizontal/vertical flip, rotation (+-15 deg), brightness (+-20%), contrast (+-15%), Gaussian blur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Augmented to 8,741 images; 70% train (6,118) / 15% validation (1,311) / 15% test (1,312) - stratified split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Resize to 224x224, RGB normalization with ImageNet stats (mean=[0.485,0.456,0.406], std=[0.229,0.224,0.225])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 Python 3.11, TensorFlow 2.13, Keras, OpenCV 4.8, Flask 2.3.2, SQLite3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016953" y="270515"/>
            <a:ext cx="5659437" cy="6715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Lucida Console" panose="020B0609040504020204" pitchFamily="49" charset="0"/>
              </a:rPr>
              <a:t>Methodology &amp; Implementation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16953" y="1200000"/>
            <a:ext cx="10158094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MobileNetV2: Pre-trained ImageNet; inverted residual blocks; first 100 layers frozen; 2.26M params (1.28M trainable); 52ms/image, 9.1MB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DenseNet121: Dense connectivity (each layer connected to all prior layers); 4 dense blocks, growth rate k=32; 7.69M params; 156ms/image, 30.8MB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CNN: 4 convolutional blocks (32-64-128-256 filters); trained from scratch; 2.5M params (all trainable); 84ms/image, 10.2MB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Adam optimizer (lr=0.0001, beta1=0.9, beta2=0.999), categorical cross-entropy loss, batch size 32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weights applied to handle imbalance: wc = N_total / (C x N_c)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 (patience=10), ReduceLROnPlateau (factor=0.5, patience=5), max 50 epochs, 5 random seeds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Ensemble: Majority voting (&gt;=2/3 models agree); tie-breaking by MobileNetV2; Healthy detection via multi-criteria thresholding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016953" y="270515"/>
            <a:ext cx="5659437" cy="6715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Lucida Console" panose="020B0609040504020204" pitchFamily="49" charset="0"/>
              </a:rPr>
              <a:t>Methodology &amp; Implementation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16953" y="1200000"/>
            <a:ext cx="10158094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Architecture: Presentation Tier, Application Tier, Data Tier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Tier: HTML5/CSS3/JS responsive web interface; CSS media queries for 360px-1920px screens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Tier: Flask 2.3.2 routes; parallel model inference; ensemble aggregation; Grad-CAM generator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Tier: SQLite3 database (users + session management); HDF5 model files (MobileNetV2: 9MB, DenseNet121: 30MB, Custom CNN: 10MB)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Pipeline: Upload (HTTP POST) -&gt; Validate -&gt; Resize 224x224 -&gt; Normalize -&gt; Parallel Inference -&gt; Ensemble -&gt; Healthy Check -&gt; Treatment DB -&gt; Grad-CAM -&gt; Display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Grad-CAM: Gradient w.r.t. last conv layer -&gt; Global avg pool -&gt; Weighted sum -&gt; ReLU -&gt; Upsample to 224x224 -&gt; Jet colormap overlay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 SHA-256 password hashing, signed session cookies, parameterized SQL queries, input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016953" y="270515"/>
            <a:ext cx="5659437" cy="6715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Lucida Console" panose="020B0609040504020204" pitchFamily="49" charset="0"/>
              </a:rPr>
              <a:t>Results &amp; Discussion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16953" y="1200000"/>
            <a:ext cx="10158094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Accuracy (1,312 test images):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MobileNetV2: 1,303/1,312 correct = 99.31% | DenseNet121: 1,301/1,312 = 99.20% | Custom CNN: 1,303/1,312 = 99.31%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Ensemble (Majority Voting): 1,304/1,312 = 99.39% - highest overall accuracy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Per-Class Performance (MobileNetV2): Bud Rot F1=99.71% (Recall 100%), Stem Bleeding F1=99.67%, Leaf Rot F1=99.64%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Leaf Spot: F1=98.81% (lowest, due to visual similarity with early Leaf Rot - 3 misclassification cases)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 Root Dropping: F1=99.52%; All 5 classes exceed 98% across all metrics - no class bias detected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McNemar's test (p &gt; 0.05): No statistically significant difference between the three model architectures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016953" y="270515"/>
            <a:ext cx="5659437" cy="6715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Lucida Console" panose="020B0609040504020204" pitchFamily="49" charset="0"/>
              </a:rPr>
              <a:t>Results &amp; Discussion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16953" y="1200000"/>
            <a:ext cx="10158094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 Comparison: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Kumar et al. (2017) SVM+HOG: 87.60% (+11.71% improvement) | Ramesh et al. (2019) Basic CNN: 94.30% (+5.09%)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Islam et al. (2025) Hybrid Vision Transformer: 98.36% (+0.95%) | Proposed Multi-Model Ensemble: 99.31%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CocoGuard chosen over Hybrid ViT: real-time mobile efficiency (50ms vs ~200ms), probabilistic confidence scores, lower compute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Latency: MobileNetV2 52ms, DenseNet121 156ms, Custom CNN 84ms; Total 3-model sequential: 292ms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Latency (avg 1.847s): Upload 200ms, Preprocessing 100ms, Inference 292ms, Grad-CAM 182ms, DB query 45ms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 operates at 20 FPS on consumer hardware (9.1MB model); suitable for real-time mobile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016953" y="270515"/>
            <a:ext cx="5659437" cy="6715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Lucida Console" panose="020B0609040504020204" pitchFamily="49" charset="0"/>
              </a:rPr>
              <a:t>Results &amp; Discussion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16953" y="1200000"/>
            <a:ext cx="10158094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Analysis: Strong diagonal dominance across all 3 models confirming robust classification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3 off-diagonal errors in Leaf Rot vs Gray Leaf Spot (visually overlapping early symptoms)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and class weighting successfully eliminated model bias across unbalanced classes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Explainability Results: Expert-rated heatmap quality score of 4.23/5.0 (scale rated by plant pathologists)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 Rot: Grad-CAM correctly focuses on apical meristem necrosis | Stem Bleeding: highlights gummosis exudates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 trust study (n=25): Without Grad-CAM = 43% trust, With Grad-CAM = 81% trust (+38 percentage points)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computation overhead: ~180ms; justified by proven farmer trust and expert validation benefits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016953" y="270515"/>
            <a:ext cx="5659437" cy="6715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Lucida Console" panose="020B0609040504020204" pitchFamily="49" charset="0"/>
              </a:rPr>
              <a:t>Results &amp; Discussion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16953" y="1200000"/>
            <a:ext cx="10158094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(CocoGuard) - Built with Flask 2.3.2; responsive across Chrome, Firefox, Safari, Android, iOS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Workflow: Login/Register -&gt; Upload image (camera or gallery, JPG/PNG/BMP, max 10MB) -&gt; Click Predict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display: Primary disease + confidence score; per-model predictions (Custom CNN, DenseNet121, MobileNetV2)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heatmap overlay highlights disease-affected regions; color-coded (red=high importance, blue=low)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protocols displayed in ranked order by field efficacy; expandable cards with dosage, method, cost, source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Healthy Plant Detection via multi-criteria: avg confidence &lt;70%, model disagreement, probability spread &lt;20%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Testing: 92% image upload success rate; 83% user satisfaction; 100% treatment utility rating from farmers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016953" y="270515"/>
            <a:ext cx="5659437" cy="6715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Lucida Console" panose="020B0609040504020204" pitchFamily="49" charset="0"/>
              </a:rPr>
              <a:t>Results &amp; Discussion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16953" y="1200000"/>
            <a:ext cx="10158094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Database: 34 validated protocols across 5 diseases from ICAR-CPCRI studies (1922-2024)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Disease-wise coverage: Bud Rot (9), Stem Bleeding (8), Bud Root Dropping (7), Leaf Rot (5), Gray Leaf Spot (5)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 Rot - Top treatment: Chlorothalonil 78.12% WP = 100% efficacy (0% disease incidence over 3-year trial, Kasaragod)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 Bleeding - Top treatment: Hexaconazole 5% + Validamycin 2.5% SC = 42% disease index reduction over 27 months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Cost-Benefit Analysis: Organic alternatives (Trichoderma, Pseudomonas, neem cake) achieve 69-85% efficacy at 47% lower cost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savings: Rs. 23/tree (Rs. 15 organic vs Rs. 31 chemical); Rs. 2,300-46,000 annual savings for 100-2,000 tree farms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 Validation: 6 from ICAR-CPCRI Annual Reports, 5 from peer-reviewed journals, 4 from CPCRI Extension Publications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016953" y="270515"/>
            <a:ext cx="5659437" cy="6715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Lucida Console" panose="020B0609040504020204" pitchFamily="49" charset="0"/>
              </a:rPr>
              <a:t>Conclusion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16953" y="1200000"/>
            <a:ext cx="10158094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CocoGuard achieves 99.39% ensemble accuracy (MobileNetV2: 99.31%, DenseNet121: 99.20%, Custom CNN: 99.31%) on 1,312 test images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Bud Rot recall rate; all 5 disease classes exceed 98% across Precision, Recall, and F1-Score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systematic multi-architecture comparison study for coconut disease detection with ensemble validation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 evidence-based treatment protocols (1922-2024) providing both chemical (100% efficacy) and organic (47% cost saving) options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visual explainability increases farmer trust from 43% to 81%; expert heatmap quality rating: 4.23/5.0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inference time: 1.847 seconds; MobileNetV2 runs at 20 FPS on consumer hardware (9.1MB model)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 binary image features only, no real patient/farmer clinical validation; 0.95% gain over nearest state-of-the-art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TensorFlow Lite mobile app (48ms on Snapdragon 730), severity classification, IoT integration, multi-language UI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016953" y="270515"/>
            <a:ext cx="5659437" cy="6715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Lucida Console" panose="020B0609040504020204" pitchFamily="49" charset="0"/>
              </a:rPr>
              <a:t>References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16953" y="1200000"/>
            <a:ext cx="10158094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T. Islam et al., 'Advancing Coconut Tree Disease Detection Using Integrated CNN and Hybrid Vision Transformer,' ECCE 2025.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R. D. Bacuna and M. A. Ballera, 'iLuVsion: A CNN-Based Classification of Coconut Tree Diseases,' IEEE AGRETA 2024.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'Coconut Leaf Disease Detection Using Inception V3 with Explainable AI,' IEEE ICTBIG 2024.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Santhiya et al., 'Early Detection of Coconut Palm Leaflet Diseases using CNN,' IEEE ICTBIG 2024.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'Coconut Leaf Disease Identification Using DenseNet121 Architecture,' ICSCDS 2023, pp. 258-264.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Authors not specified, 'Coconut Leaf Disease Classification Using ResNet50 with Adam and SGD Optimizers,' IEEE 2024.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P. Latha et al., 'Biocontrol Agents for Sustainable Management of Bud Rot Disease in Coconut,' Journal of Plantation Crops, 2023.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S. K. Brar et al., 'Smart Approach to Coconut Leaf Spot Disease Classification using Deep Learning,' WCONF 2023.</a:t>
            </a:r>
          </a:p>
          <a:p>
            <a:pPr marL="285750" lvl="0" indent="-285750" algn="just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[9-17] D. P. Singh et al. (2024); X. Chen (2024); S. Jaybhaye et al. (2024); V. R. Meghrajani et al. (2023); A. Williams &amp; C. Feeney (2024); K. L. Fortuna et al. (2020); B. M. Munie et al. (2025); G. K. Getahun et al. (2025); J. Elahi et al. (2024)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782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941</TotalTime>
  <Words>1692</Words>
  <Application>Microsoft Office PowerPoint</Application>
  <PresentationFormat>Widescreen</PresentationFormat>
  <Paragraphs>241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Bahnschrift</vt:lpstr>
      <vt:lpstr>Calibri</vt:lpstr>
      <vt:lpstr>Calibri Light</vt:lpstr>
      <vt:lpstr>Cambria Math</vt:lpstr>
      <vt:lpstr>Lucida Console</vt:lpstr>
      <vt:lpstr>Open Sans</vt:lpstr>
      <vt:lpstr>Sitka Small</vt:lpstr>
      <vt:lpstr>Times New Roman</vt:lpstr>
      <vt:lpstr>Office Theme</vt:lpstr>
      <vt:lpstr>MindConnect: AI-Powered Mental Health Disorder Prediction Using Optimized Naive Bayes Classification with Real-Time Web Interface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Renjith</dc:creator>
  <cp:lastModifiedBy>Nikhitha A</cp:lastModifiedBy>
  <cp:revision>53</cp:revision>
  <dcterms:created xsi:type="dcterms:W3CDTF">2020-06-22T11:06:50Z</dcterms:created>
  <dcterms:modified xsi:type="dcterms:W3CDTF">2026-04-24T09:10:05Z</dcterms:modified>
</cp:coreProperties>
</file>